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60" r:id="rId5"/>
    <p:sldId id="264" r:id="rId6"/>
    <p:sldId id="265" r:id="rId7"/>
    <p:sldId id="259" r:id="rId8"/>
    <p:sldId id="261" r:id="rId9"/>
    <p:sldId id="267" r:id="rId10"/>
    <p:sldId id="268" r:id="rId11"/>
    <p:sldId id="269" r:id="rId12"/>
    <p:sldId id="262" r:id="rId13"/>
    <p:sldId id="266" r:id="rId14"/>
    <p:sldId id="263" r:id="rId15"/>
  </p:sldIdLst>
  <p:sldSz cx="12192000" cy="6858000"/>
  <p:notesSz cx="6858000" cy="9144000"/>
  <p:defaultTex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2F497B-F945-F3B0-974A-9E1CEECBC1B6}" v="50" dt="2025-02-23T12:36:49.105"/>
    <p1510:client id="{23B3FC8F-CD83-81A3-770B-2C678BF6B5F4}" v="475" dt="2025-02-23T20:05:03.726"/>
    <p1510:client id="{4500AB38-182D-AF35-C768-83CE74E8328C}" v="66" dt="2025-02-23T18:01:20.0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0"/>
    <p:restoredTop sz="77368"/>
  </p:normalViewPr>
  <p:slideViewPr>
    <p:cSldViewPr snapToGrid="0">
      <p:cViewPr varScale="1">
        <p:scale>
          <a:sx n="120" d="100"/>
          <a:sy n="120" d="100"/>
        </p:scale>
        <p:origin x="148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u-HU"/>
        </a:p>
      </c:txPr>
    </c:title>
    <c:autoTitleDeleted val="0"/>
    <c:plotArea>
      <c:layout/>
      <c:pieChart>
        <c:varyColors val="1"/>
        <c:ser>
          <c:idx val="0"/>
          <c:order val="0"/>
          <c:tx>
            <c:strRef>
              <c:f>Munka1!$B$1</c:f>
              <c:strCache>
                <c:ptCount val="1"/>
                <c:pt idx="0">
                  <c:v>Work hours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2-E92C-4071-83F1-D616A352FEA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1-E92C-4071-83F1-D616A352FEA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3-E92C-4071-83F1-D616A352FEA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FD2F-430C-8FA0-02568AB21803}"/>
              </c:ext>
            </c:extLst>
          </c:dPt>
          <c:dLbls>
            <c:dLbl>
              <c:idx val="0"/>
              <c:tx>
                <c:rich>
                  <a:bodyPr/>
                  <a:lstStyle/>
                  <a:p>
                    <a:fld id="{39EAECA0-79A6-452B-A4D3-1758D5F179D2}" type="VALUE">
                      <a:rPr lang="en-US">
                        <a:solidFill>
                          <a:schemeClr val="bg1"/>
                        </a:solidFill>
                      </a:rPr>
                      <a:pPr/>
                      <a:t>[ÉRTÉK]</a:t>
                    </a:fld>
                    <a:endParaRPr lang="hu-HU"/>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E92C-4071-83F1-D616A352FEA2}"/>
                </c:ext>
              </c:extLst>
            </c:dLbl>
            <c:dLbl>
              <c:idx val="1"/>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hu-HU"/>
                </a:p>
              </c:txPr>
              <c:showLegendKey val="0"/>
              <c:showVal val="1"/>
              <c:showCatName val="0"/>
              <c:showSerName val="0"/>
              <c:showPercent val="0"/>
              <c:showBubbleSize val="0"/>
              <c:extLst>
                <c:ext xmlns:c16="http://schemas.microsoft.com/office/drawing/2014/chart" uri="{C3380CC4-5D6E-409C-BE32-E72D297353CC}">
                  <c16:uniqueId val="{00000001-E92C-4071-83F1-D616A352FEA2}"/>
                </c:ext>
              </c:extLst>
            </c:dLbl>
            <c:dLbl>
              <c:idx val="2"/>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hu-HU"/>
                </a:p>
              </c:txPr>
              <c:showLegendKey val="0"/>
              <c:showVal val="1"/>
              <c:showCatName val="0"/>
              <c:showSerName val="0"/>
              <c:showPercent val="0"/>
              <c:showBubbleSize val="0"/>
              <c:extLst>
                <c:ext xmlns:c16="http://schemas.microsoft.com/office/drawing/2014/chart" uri="{C3380CC4-5D6E-409C-BE32-E72D297353CC}">
                  <c16:uniqueId val="{00000003-E92C-4071-83F1-D616A352FEA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u-HU"/>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Munka1!$A$2:$A$5</c:f>
              <c:strCache>
                <c:ptCount val="3"/>
                <c:pt idx="0">
                  <c:v>Kristóf</c:v>
                </c:pt>
                <c:pt idx="1">
                  <c:v>Tamás</c:v>
                </c:pt>
                <c:pt idx="2">
                  <c:v>Ricsi</c:v>
                </c:pt>
              </c:strCache>
            </c:strRef>
          </c:cat>
          <c:val>
            <c:numRef>
              <c:f>Munka1!$B$2:$B$5</c:f>
              <c:numCache>
                <c:formatCode>General</c:formatCode>
                <c:ptCount val="4"/>
                <c:pt idx="0">
                  <c:v>46</c:v>
                </c:pt>
                <c:pt idx="1">
                  <c:v>52</c:v>
                </c:pt>
                <c:pt idx="2">
                  <c:v>39</c:v>
                </c:pt>
              </c:numCache>
            </c:numRef>
          </c:val>
          <c:extLst>
            <c:ext xmlns:c16="http://schemas.microsoft.com/office/drawing/2014/chart" uri="{C3380CC4-5D6E-409C-BE32-E72D297353CC}">
              <c16:uniqueId val="{00000000-E92C-4071-83F1-D616A352FEA2}"/>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u-H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hu-H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AA109-AEDA-4BA6-AD88-CC087C495371}" type="datetimeFigureOut">
              <a:rPr lang="hu-HU" smtClean="0"/>
              <a:t>2025. 04. 29.</a:t>
            </a:fld>
            <a:endParaRPr lang="hu-HU"/>
          </a:p>
        </p:txBody>
      </p:sp>
      <p:sp>
        <p:nvSpPr>
          <p:cNvPr id="4" name="Diakép hely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79063E-5CA5-47B3-A5C5-6A3DA1A55622}" type="slidenum">
              <a:rPr lang="hu-HU" smtClean="0"/>
              <a:t>‹#›</a:t>
            </a:fld>
            <a:endParaRPr lang="hu-HU"/>
          </a:p>
        </p:txBody>
      </p:sp>
    </p:spTree>
    <p:extLst>
      <p:ext uri="{BB962C8B-B14F-4D97-AF65-F5344CB8AC3E}">
        <p14:creationId xmlns:p14="http://schemas.microsoft.com/office/powerpoint/2010/main" val="433195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endParaRPr lang="hu-HU" dirty="0"/>
          </a:p>
        </p:txBody>
      </p:sp>
      <p:sp>
        <p:nvSpPr>
          <p:cNvPr id="4" name="Dia számának helye 3"/>
          <p:cNvSpPr>
            <a:spLocks noGrp="1"/>
          </p:cNvSpPr>
          <p:nvPr>
            <p:ph type="sldNum" sz="quarter" idx="5"/>
          </p:nvPr>
        </p:nvSpPr>
        <p:spPr/>
        <p:txBody>
          <a:bodyPr/>
          <a:lstStyle/>
          <a:p>
            <a:fld id="{4F79063E-5CA5-47B3-A5C5-6A3DA1A55622}" type="slidenum">
              <a:rPr lang="hu-HU" smtClean="0"/>
              <a:t>1</a:t>
            </a:fld>
            <a:endParaRPr lang="hu-HU"/>
          </a:p>
        </p:txBody>
      </p:sp>
    </p:spTree>
    <p:extLst>
      <p:ext uri="{BB962C8B-B14F-4D97-AF65-F5344CB8AC3E}">
        <p14:creationId xmlns:p14="http://schemas.microsoft.com/office/powerpoint/2010/main" val="2168608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b="0" i="0" dirty="0" err="1">
                <a:effectLst/>
                <a:latin typeface="gg sans"/>
              </a:rPr>
              <a:t>Database</a:t>
            </a:r>
            <a:r>
              <a:rPr lang="hu-HU" b="0" i="0" dirty="0">
                <a:effectLst/>
                <a:latin typeface="gg sans"/>
              </a:rPr>
              <a:t> </a:t>
            </a:r>
            <a:r>
              <a:rPr lang="hu-HU" b="0" i="0" dirty="0" err="1">
                <a:effectLst/>
                <a:latin typeface="gg sans"/>
              </a:rPr>
              <a:t>Structure</a:t>
            </a:r>
            <a:r>
              <a:rPr lang="hu-HU" b="0" i="0" dirty="0">
                <a:effectLst/>
                <a:latin typeface="gg sans"/>
              </a:rPr>
              <a:t> </a:t>
            </a:r>
            <a:r>
              <a:rPr lang="hu-HU" b="0" i="0" dirty="0" err="1">
                <a:effectLst/>
                <a:latin typeface="gg sans"/>
              </a:rPr>
              <a:t>This</a:t>
            </a:r>
            <a:r>
              <a:rPr lang="hu-HU" b="0" i="0" dirty="0">
                <a:effectLst/>
                <a:latin typeface="gg sans"/>
              </a:rPr>
              <a:t> </a:t>
            </a:r>
            <a:r>
              <a:rPr lang="hu-HU" b="0" i="0" dirty="0" err="1">
                <a:effectLst/>
                <a:latin typeface="gg sans"/>
              </a:rPr>
              <a:t>system</a:t>
            </a:r>
            <a:r>
              <a:rPr lang="hu-HU" b="0" i="0" dirty="0">
                <a:effectLst/>
                <a:latin typeface="gg sans"/>
              </a:rPr>
              <a:t> </a:t>
            </a:r>
            <a:r>
              <a:rPr lang="hu-HU" b="0" i="0" dirty="0" err="1">
                <a:effectLst/>
                <a:latin typeface="gg sans"/>
              </a:rPr>
              <a:t>allows</a:t>
            </a:r>
            <a:r>
              <a:rPr lang="hu-HU" b="0" i="0" dirty="0">
                <a:effectLst/>
                <a:latin typeface="gg sans"/>
              </a:rPr>
              <a:t> </a:t>
            </a:r>
            <a:r>
              <a:rPr lang="hu-HU" b="0" i="0" dirty="0" err="1">
                <a:effectLst/>
                <a:latin typeface="gg sans"/>
              </a:rPr>
              <a:t>users</a:t>
            </a:r>
            <a:r>
              <a:rPr lang="hu-HU" b="0" i="0" dirty="0">
                <a:effectLst/>
                <a:latin typeface="gg sans"/>
              </a:rPr>
              <a:t> </a:t>
            </a:r>
            <a:r>
              <a:rPr lang="hu-HU" b="0" i="0" dirty="0" err="1">
                <a:effectLst/>
                <a:latin typeface="gg sans"/>
              </a:rPr>
              <a:t>to</a:t>
            </a:r>
            <a:r>
              <a:rPr lang="hu-HU" b="0" i="0" dirty="0">
                <a:effectLst/>
                <a:latin typeface="gg sans"/>
              </a:rPr>
              <a:t> </a:t>
            </a:r>
            <a:r>
              <a:rPr lang="hu-HU" b="0" i="0" dirty="0" err="1">
                <a:effectLst/>
                <a:latin typeface="gg sans"/>
              </a:rPr>
              <a:t>book</a:t>
            </a:r>
            <a:r>
              <a:rPr lang="hu-HU" b="0" i="0" dirty="0">
                <a:effectLst/>
                <a:latin typeface="gg sans"/>
              </a:rPr>
              <a:t> </a:t>
            </a:r>
            <a:r>
              <a:rPr lang="hu-HU" b="0" i="0" dirty="0" err="1">
                <a:effectLst/>
                <a:latin typeface="gg sans"/>
              </a:rPr>
              <a:t>appointments</a:t>
            </a:r>
            <a:r>
              <a:rPr lang="hu-HU" b="0" i="0" dirty="0">
                <a:effectLst/>
                <a:latin typeface="gg sans"/>
              </a:rPr>
              <a:t> </a:t>
            </a:r>
            <a:r>
              <a:rPr lang="hu-HU" b="0" i="0" dirty="0" err="1">
                <a:effectLst/>
                <a:latin typeface="gg sans"/>
              </a:rPr>
              <a:t>with</a:t>
            </a:r>
            <a:r>
              <a:rPr lang="hu-HU" b="0" i="0" dirty="0">
                <a:effectLst/>
                <a:latin typeface="gg sans"/>
              </a:rPr>
              <a:t> service </a:t>
            </a:r>
            <a:r>
              <a:rPr lang="hu-HU" b="0" i="0" dirty="0" err="1">
                <a:effectLst/>
                <a:latin typeface="gg sans"/>
              </a:rPr>
              <a:t>providers</a:t>
            </a:r>
            <a:r>
              <a:rPr lang="hu-HU" b="0" i="0" dirty="0">
                <a:effectLst/>
                <a:latin typeface="gg sans"/>
              </a:rPr>
              <a:t>, </a:t>
            </a:r>
            <a:r>
              <a:rPr lang="hu-HU" b="0" i="0" dirty="0" err="1">
                <a:effectLst/>
                <a:latin typeface="gg sans"/>
              </a:rPr>
              <a:t>receive</a:t>
            </a:r>
            <a:r>
              <a:rPr lang="hu-HU" b="0" i="0" dirty="0">
                <a:effectLst/>
                <a:latin typeface="gg sans"/>
              </a:rPr>
              <a:t> </a:t>
            </a:r>
            <a:r>
              <a:rPr lang="hu-HU" b="0" i="0" dirty="0" err="1">
                <a:effectLst/>
                <a:latin typeface="gg sans"/>
              </a:rPr>
              <a:t>notifications</a:t>
            </a:r>
            <a:r>
              <a:rPr lang="hu-HU" b="0" i="0" dirty="0">
                <a:effectLst/>
                <a:latin typeface="gg sans"/>
              </a:rPr>
              <a:t>, and </a:t>
            </a:r>
            <a:r>
              <a:rPr lang="hu-HU" b="0" i="0" dirty="0" err="1">
                <a:effectLst/>
                <a:latin typeface="gg sans"/>
              </a:rPr>
              <a:t>leave</a:t>
            </a:r>
            <a:r>
              <a:rPr lang="hu-HU" b="0" i="0" dirty="0">
                <a:effectLst/>
                <a:latin typeface="gg sans"/>
              </a:rPr>
              <a:t> </a:t>
            </a:r>
            <a:r>
              <a:rPr lang="hu-HU" b="0" i="0" dirty="0" err="1">
                <a:effectLst/>
                <a:latin typeface="gg sans"/>
              </a:rPr>
              <a:t>reviews</a:t>
            </a:r>
            <a:r>
              <a:rPr lang="hu-HU" b="0" i="0" dirty="0">
                <a:effectLst/>
                <a:latin typeface="gg sans"/>
              </a:rPr>
              <a:t>. </a:t>
            </a:r>
            <a:r>
              <a:rPr lang="hu-HU" b="0" i="0" dirty="0" err="1">
                <a:effectLst/>
                <a:latin typeface="gg sans"/>
              </a:rPr>
              <a:t>Below</a:t>
            </a:r>
            <a:r>
              <a:rPr lang="hu-HU" b="0" i="0" dirty="0">
                <a:effectLst/>
                <a:latin typeface="gg sans"/>
              </a:rPr>
              <a:t> </a:t>
            </a:r>
            <a:r>
              <a:rPr lang="hu-HU" b="0" i="0" dirty="0" err="1">
                <a:effectLst/>
                <a:latin typeface="gg sans"/>
              </a:rPr>
              <a:t>are</a:t>
            </a:r>
            <a:r>
              <a:rPr lang="hu-HU" b="0" i="0" dirty="0">
                <a:effectLst/>
                <a:latin typeface="gg sans"/>
              </a:rPr>
              <a:t> </a:t>
            </a:r>
            <a:r>
              <a:rPr lang="hu-HU" b="0" i="0" dirty="0" err="1">
                <a:effectLst/>
                <a:latin typeface="gg sans"/>
              </a:rPr>
              <a:t>the</a:t>
            </a:r>
            <a:r>
              <a:rPr lang="hu-HU" b="0" i="0" dirty="0">
                <a:effectLst/>
                <a:latin typeface="gg sans"/>
              </a:rPr>
              <a:t> main </a:t>
            </a:r>
            <a:r>
              <a:rPr lang="hu-HU" b="0" i="0" dirty="0" err="1">
                <a:effectLst/>
                <a:latin typeface="gg sans"/>
              </a:rPr>
              <a:t>tables</a:t>
            </a:r>
            <a:r>
              <a:rPr lang="hu-HU" b="0" i="0" dirty="0">
                <a:effectLst/>
                <a:latin typeface="gg sans"/>
              </a:rPr>
              <a:t> and </a:t>
            </a:r>
            <a:r>
              <a:rPr lang="hu-HU" b="0" i="0" dirty="0" err="1">
                <a:effectLst/>
                <a:latin typeface="gg sans"/>
              </a:rPr>
              <a:t>their</a:t>
            </a:r>
            <a:r>
              <a:rPr lang="hu-HU" b="0" i="0" dirty="0">
                <a:effectLst/>
                <a:latin typeface="gg sans"/>
              </a:rPr>
              <a:t> </a:t>
            </a:r>
            <a:r>
              <a:rPr lang="hu-HU" b="0" i="0" dirty="0" err="1">
                <a:effectLst/>
                <a:latin typeface="gg sans"/>
              </a:rPr>
              <a:t>relationships</a:t>
            </a:r>
            <a:r>
              <a:rPr lang="hu-HU" b="0" i="0" dirty="0">
                <a:effectLst/>
                <a:latin typeface="gg sans"/>
              </a:rPr>
              <a:t>.</a:t>
            </a:r>
          </a:p>
          <a:p>
            <a:r>
              <a:rPr lang="hu-HU" b="0" i="0" dirty="0" err="1">
                <a:effectLst/>
                <a:latin typeface="gg sans"/>
              </a:rPr>
              <a:t>Users</a:t>
            </a:r>
            <a:r>
              <a:rPr lang="hu-HU" b="0" i="0" dirty="0">
                <a:effectLst/>
                <a:latin typeface="gg sans"/>
              </a:rPr>
              <a:t> The </a:t>
            </a:r>
            <a:r>
              <a:rPr lang="hu-HU" b="0" i="0" dirty="0" err="1">
                <a:effectLst/>
                <a:latin typeface="gg sans"/>
              </a:rPr>
              <a:t>users</a:t>
            </a:r>
            <a:r>
              <a:rPr lang="hu-HU" b="0" i="0" dirty="0">
                <a:effectLst/>
                <a:latin typeface="gg sans"/>
              </a:rPr>
              <a:t> </a:t>
            </a:r>
            <a:r>
              <a:rPr lang="hu-HU" b="0" i="0" dirty="0" err="1">
                <a:effectLst/>
                <a:latin typeface="gg sans"/>
              </a:rPr>
              <a:t>table</a:t>
            </a:r>
            <a:r>
              <a:rPr lang="hu-HU" b="0" i="0" dirty="0">
                <a:effectLst/>
                <a:latin typeface="gg sans"/>
              </a:rPr>
              <a:t> </a:t>
            </a:r>
            <a:r>
              <a:rPr lang="hu-HU" b="0" i="0" dirty="0" err="1">
                <a:effectLst/>
                <a:latin typeface="gg sans"/>
              </a:rPr>
              <a:t>stores</a:t>
            </a:r>
            <a:r>
              <a:rPr lang="hu-HU" b="0" i="0" dirty="0">
                <a:effectLst/>
                <a:latin typeface="gg sans"/>
              </a:rPr>
              <a:t> </a:t>
            </a:r>
            <a:r>
              <a:rPr lang="hu-HU" b="0" i="0" dirty="0" err="1">
                <a:effectLst/>
                <a:latin typeface="gg sans"/>
              </a:rPr>
              <a:t>data</a:t>
            </a:r>
            <a:r>
              <a:rPr lang="hu-HU" b="0" i="0" dirty="0">
                <a:effectLst/>
                <a:latin typeface="gg sans"/>
              </a:rPr>
              <a:t> </a:t>
            </a:r>
            <a:r>
              <a:rPr lang="hu-HU" b="0" i="0" dirty="0" err="1">
                <a:effectLst/>
                <a:latin typeface="gg sans"/>
              </a:rPr>
              <a:t>for</a:t>
            </a:r>
            <a:r>
              <a:rPr lang="hu-HU" b="0" i="0" dirty="0">
                <a:effectLst/>
                <a:latin typeface="gg sans"/>
              </a:rPr>
              <a:t> </a:t>
            </a:r>
            <a:r>
              <a:rPr lang="hu-HU" b="0" i="0" dirty="0" err="1">
                <a:effectLst/>
                <a:latin typeface="gg sans"/>
              </a:rPr>
              <a:t>all</a:t>
            </a:r>
            <a:r>
              <a:rPr lang="hu-HU" b="0" i="0" dirty="0">
                <a:effectLst/>
                <a:latin typeface="gg sans"/>
              </a:rPr>
              <a:t> </a:t>
            </a:r>
            <a:r>
              <a:rPr lang="hu-HU" b="0" i="0" dirty="0" err="1">
                <a:effectLst/>
                <a:latin typeface="gg sans"/>
              </a:rPr>
              <a:t>registered</a:t>
            </a:r>
            <a:r>
              <a:rPr lang="hu-HU" b="0" i="0" dirty="0">
                <a:effectLst/>
                <a:latin typeface="gg sans"/>
              </a:rPr>
              <a:t> </a:t>
            </a:r>
            <a:r>
              <a:rPr lang="hu-HU" b="0" i="0" dirty="0" err="1">
                <a:effectLst/>
                <a:latin typeface="gg sans"/>
              </a:rPr>
              <a:t>users</a:t>
            </a:r>
            <a:r>
              <a:rPr lang="hu-HU" b="0" i="0" dirty="0">
                <a:effectLst/>
                <a:latin typeface="gg sans"/>
              </a:rPr>
              <a:t> (</a:t>
            </a:r>
            <a:r>
              <a:rPr lang="hu-HU" b="0" i="0" dirty="0" err="1">
                <a:effectLst/>
                <a:latin typeface="gg sans"/>
              </a:rPr>
              <a:t>user</a:t>
            </a:r>
            <a:r>
              <a:rPr lang="hu-HU" b="0" i="0" dirty="0">
                <a:effectLst/>
                <a:latin typeface="gg sans"/>
              </a:rPr>
              <a:t>, </a:t>
            </a:r>
            <a:r>
              <a:rPr lang="hu-HU" b="0" i="0" dirty="0" err="1">
                <a:effectLst/>
                <a:latin typeface="gg sans"/>
              </a:rPr>
              <a:t>provider</a:t>
            </a:r>
            <a:r>
              <a:rPr lang="hu-HU" b="0" i="0" dirty="0">
                <a:effectLst/>
                <a:latin typeface="gg sans"/>
              </a:rPr>
              <a:t>, </a:t>
            </a:r>
            <a:r>
              <a:rPr lang="hu-HU" b="0" i="0" dirty="0" err="1">
                <a:effectLst/>
                <a:latin typeface="gg sans"/>
              </a:rPr>
              <a:t>admin</a:t>
            </a:r>
            <a:r>
              <a:rPr lang="hu-HU" b="0" i="0" dirty="0">
                <a:effectLst/>
                <a:latin typeface="gg sans"/>
              </a:rPr>
              <a:t>). </a:t>
            </a:r>
            <a:r>
              <a:rPr lang="hu-HU" b="0" i="0" dirty="0" err="1">
                <a:effectLst/>
                <a:latin typeface="gg sans"/>
              </a:rPr>
              <a:t>Each</a:t>
            </a:r>
            <a:r>
              <a:rPr lang="hu-HU" b="0" i="0" dirty="0">
                <a:effectLst/>
                <a:latin typeface="gg sans"/>
              </a:rPr>
              <a:t> </a:t>
            </a:r>
            <a:r>
              <a:rPr lang="hu-HU" b="0" i="0" dirty="0" err="1">
                <a:effectLst/>
                <a:latin typeface="gg sans"/>
              </a:rPr>
              <a:t>user</a:t>
            </a:r>
            <a:r>
              <a:rPr lang="hu-HU" b="0" i="0" dirty="0">
                <a:effectLst/>
                <a:latin typeface="gg sans"/>
              </a:rPr>
              <a:t> has a </a:t>
            </a:r>
            <a:r>
              <a:rPr lang="hu-HU" b="0" i="0" dirty="0" err="1">
                <a:effectLst/>
                <a:latin typeface="gg sans"/>
              </a:rPr>
              <a:t>role</a:t>
            </a:r>
            <a:r>
              <a:rPr lang="hu-HU" b="0" i="0" dirty="0">
                <a:effectLst/>
                <a:latin typeface="gg sans"/>
              </a:rPr>
              <a:t> </a:t>
            </a:r>
            <a:r>
              <a:rPr lang="hu-HU" b="0" i="0" dirty="0" err="1">
                <a:effectLst/>
                <a:latin typeface="gg sans"/>
              </a:rPr>
              <a:t>that</a:t>
            </a:r>
            <a:r>
              <a:rPr lang="hu-HU" b="0" i="0" dirty="0">
                <a:effectLst/>
                <a:latin typeface="gg sans"/>
              </a:rPr>
              <a:t> </a:t>
            </a:r>
            <a:r>
              <a:rPr lang="hu-HU" b="0" i="0" dirty="0" err="1">
                <a:effectLst/>
                <a:latin typeface="gg sans"/>
              </a:rPr>
              <a:t>determines</a:t>
            </a:r>
            <a:r>
              <a:rPr lang="hu-HU" b="0" i="0" dirty="0">
                <a:effectLst/>
                <a:latin typeface="gg sans"/>
              </a:rPr>
              <a:t> </a:t>
            </a:r>
            <a:r>
              <a:rPr lang="hu-HU" b="0" i="0" dirty="0" err="1">
                <a:effectLst/>
                <a:latin typeface="gg sans"/>
              </a:rPr>
              <a:t>their</a:t>
            </a:r>
            <a:r>
              <a:rPr lang="hu-HU" b="0" i="0" dirty="0">
                <a:effectLst/>
                <a:latin typeface="gg sans"/>
              </a:rPr>
              <a:t> </a:t>
            </a:r>
            <a:r>
              <a:rPr lang="hu-HU" b="0" i="0" dirty="0" err="1">
                <a:effectLst/>
                <a:latin typeface="gg sans"/>
              </a:rPr>
              <a:t>permissions</a:t>
            </a:r>
            <a:r>
              <a:rPr lang="hu-HU" b="0" i="0" dirty="0">
                <a:effectLst/>
                <a:latin typeface="gg sans"/>
              </a:rPr>
              <a:t>.</a:t>
            </a:r>
          </a:p>
          <a:p>
            <a:r>
              <a:rPr lang="hu-HU" b="0" i="0" dirty="0" err="1">
                <a:effectLst/>
                <a:latin typeface="gg sans"/>
              </a:rPr>
              <a:t>Providers</a:t>
            </a:r>
            <a:r>
              <a:rPr lang="hu-HU" b="0" i="0" dirty="0">
                <a:effectLst/>
                <a:latin typeface="gg sans"/>
              </a:rPr>
              <a:t> The </a:t>
            </a:r>
            <a:r>
              <a:rPr lang="hu-HU" b="0" i="0" dirty="0" err="1">
                <a:effectLst/>
                <a:latin typeface="gg sans"/>
              </a:rPr>
              <a:t>providers</a:t>
            </a:r>
            <a:r>
              <a:rPr lang="hu-HU" b="0" i="0" dirty="0">
                <a:effectLst/>
                <a:latin typeface="gg sans"/>
              </a:rPr>
              <a:t> </a:t>
            </a:r>
            <a:r>
              <a:rPr lang="hu-HU" b="0" i="0" dirty="0" err="1">
                <a:effectLst/>
                <a:latin typeface="gg sans"/>
              </a:rPr>
              <a:t>table</a:t>
            </a:r>
            <a:r>
              <a:rPr lang="hu-HU" b="0" i="0" dirty="0">
                <a:effectLst/>
                <a:latin typeface="gg sans"/>
              </a:rPr>
              <a:t> </a:t>
            </a:r>
            <a:r>
              <a:rPr lang="hu-HU" b="0" i="0" dirty="0" err="1">
                <a:effectLst/>
                <a:latin typeface="gg sans"/>
              </a:rPr>
              <a:t>contains</a:t>
            </a:r>
            <a:r>
              <a:rPr lang="hu-HU" b="0" i="0" dirty="0">
                <a:effectLst/>
                <a:latin typeface="gg sans"/>
              </a:rPr>
              <a:t> </a:t>
            </a:r>
            <a:r>
              <a:rPr lang="hu-HU" b="0" i="0" dirty="0" err="1">
                <a:effectLst/>
                <a:latin typeface="gg sans"/>
              </a:rPr>
              <a:t>information</a:t>
            </a:r>
            <a:r>
              <a:rPr lang="hu-HU" b="0" i="0" dirty="0">
                <a:effectLst/>
                <a:latin typeface="gg sans"/>
              </a:rPr>
              <a:t> </a:t>
            </a:r>
            <a:r>
              <a:rPr lang="hu-HU" b="0" i="0" dirty="0" err="1">
                <a:effectLst/>
                <a:latin typeface="gg sans"/>
              </a:rPr>
              <a:t>about</a:t>
            </a:r>
            <a:r>
              <a:rPr lang="hu-HU" b="0" i="0" dirty="0">
                <a:effectLst/>
                <a:latin typeface="gg sans"/>
              </a:rPr>
              <a:t> service </a:t>
            </a:r>
            <a:r>
              <a:rPr lang="hu-HU" b="0" i="0" dirty="0" err="1">
                <a:effectLst/>
                <a:latin typeface="gg sans"/>
              </a:rPr>
              <a:t>providers</a:t>
            </a:r>
            <a:r>
              <a:rPr lang="hu-HU" b="0" i="0" dirty="0">
                <a:effectLst/>
                <a:latin typeface="gg sans"/>
              </a:rPr>
              <a:t>, </a:t>
            </a:r>
            <a:r>
              <a:rPr lang="hu-HU" b="0" i="0" dirty="0" err="1">
                <a:effectLst/>
                <a:latin typeface="gg sans"/>
              </a:rPr>
              <a:t>such</a:t>
            </a:r>
            <a:r>
              <a:rPr lang="hu-HU" b="0" i="0" dirty="0">
                <a:effectLst/>
                <a:latin typeface="gg sans"/>
              </a:rPr>
              <a:t> </a:t>
            </a:r>
            <a:r>
              <a:rPr lang="hu-HU" b="0" i="0" dirty="0" err="1">
                <a:effectLst/>
                <a:latin typeface="gg sans"/>
              </a:rPr>
              <a:t>as</a:t>
            </a:r>
            <a:r>
              <a:rPr lang="hu-HU" b="0" i="0" dirty="0">
                <a:effectLst/>
                <a:latin typeface="gg sans"/>
              </a:rPr>
              <a:t> </a:t>
            </a:r>
            <a:r>
              <a:rPr lang="hu-HU" b="0" i="0" dirty="0" err="1">
                <a:effectLst/>
                <a:latin typeface="gg sans"/>
              </a:rPr>
              <a:t>the</a:t>
            </a:r>
            <a:r>
              <a:rPr lang="hu-HU" b="0" i="0" dirty="0">
                <a:effectLst/>
                <a:latin typeface="gg sans"/>
              </a:rPr>
              <a:t> service </a:t>
            </a:r>
            <a:r>
              <a:rPr lang="hu-HU" b="0" i="0" dirty="0" err="1">
                <a:effectLst/>
                <a:latin typeface="gg sans"/>
              </a:rPr>
              <a:t>type</a:t>
            </a:r>
            <a:r>
              <a:rPr lang="hu-HU" b="0" i="0" dirty="0">
                <a:effectLst/>
                <a:latin typeface="gg sans"/>
              </a:rPr>
              <a:t>, </a:t>
            </a:r>
            <a:r>
              <a:rPr lang="hu-HU" b="0" i="0" dirty="0" err="1">
                <a:effectLst/>
                <a:latin typeface="gg sans"/>
              </a:rPr>
              <a:t>working</a:t>
            </a:r>
            <a:r>
              <a:rPr lang="hu-HU" b="0" i="0" dirty="0">
                <a:effectLst/>
                <a:latin typeface="gg sans"/>
              </a:rPr>
              <a:t> </a:t>
            </a:r>
            <a:r>
              <a:rPr lang="hu-HU" b="0" i="0" dirty="0" err="1">
                <a:effectLst/>
                <a:latin typeface="gg sans"/>
              </a:rPr>
              <a:t>hours</a:t>
            </a:r>
            <a:r>
              <a:rPr lang="hu-HU" b="0" i="0" dirty="0">
                <a:effectLst/>
                <a:latin typeface="gg sans"/>
              </a:rPr>
              <a:t>, </a:t>
            </a:r>
            <a:r>
              <a:rPr lang="hu-HU" b="0" i="0" dirty="0" err="1">
                <a:effectLst/>
                <a:latin typeface="gg sans"/>
              </a:rPr>
              <a:t>address</a:t>
            </a:r>
            <a:r>
              <a:rPr lang="hu-HU" b="0" i="0" dirty="0">
                <a:effectLst/>
                <a:latin typeface="gg sans"/>
              </a:rPr>
              <a:t>, </a:t>
            </a:r>
            <a:r>
              <a:rPr lang="hu-HU" b="0" i="0" dirty="0" err="1">
                <a:effectLst/>
                <a:latin typeface="gg sans"/>
              </a:rPr>
              <a:t>phone</a:t>
            </a:r>
            <a:r>
              <a:rPr lang="hu-HU" b="0" i="0" dirty="0">
                <a:effectLst/>
                <a:latin typeface="gg sans"/>
              </a:rPr>
              <a:t> </a:t>
            </a:r>
            <a:r>
              <a:rPr lang="hu-HU" b="0" i="0" dirty="0" err="1">
                <a:effectLst/>
                <a:latin typeface="gg sans"/>
              </a:rPr>
              <a:t>number</a:t>
            </a:r>
            <a:r>
              <a:rPr lang="hu-HU" b="0" i="0" dirty="0">
                <a:effectLst/>
                <a:latin typeface="gg sans"/>
              </a:rPr>
              <a:t>, </a:t>
            </a:r>
            <a:r>
              <a:rPr lang="hu-HU" b="0" i="0" dirty="0" err="1">
                <a:effectLst/>
                <a:latin typeface="gg sans"/>
              </a:rPr>
              <a:t>price</a:t>
            </a:r>
            <a:r>
              <a:rPr lang="hu-HU" b="0" i="0" dirty="0">
                <a:effectLst/>
                <a:latin typeface="gg sans"/>
              </a:rPr>
              <a:t>, and service </a:t>
            </a:r>
            <a:r>
              <a:rPr lang="hu-HU" b="0" i="0" dirty="0" err="1">
                <a:effectLst/>
                <a:latin typeface="gg sans"/>
              </a:rPr>
              <a:t>duration</a:t>
            </a:r>
            <a:r>
              <a:rPr lang="hu-HU" b="0" i="0" dirty="0">
                <a:effectLst/>
                <a:latin typeface="gg sans"/>
              </a:rPr>
              <a:t>. </a:t>
            </a:r>
            <a:r>
              <a:rPr lang="hu-HU" b="0" i="0" dirty="0" err="1">
                <a:effectLst/>
                <a:latin typeface="gg sans"/>
              </a:rPr>
              <a:t>Each</a:t>
            </a:r>
            <a:r>
              <a:rPr lang="hu-HU" b="0" i="0" dirty="0">
                <a:effectLst/>
                <a:latin typeface="gg sans"/>
              </a:rPr>
              <a:t> </a:t>
            </a:r>
            <a:r>
              <a:rPr lang="hu-HU" b="0" i="0" dirty="0" err="1">
                <a:effectLst/>
                <a:latin typeface="gg sans"/>
              </a:rPr>
              <a:t>provider</a:t>
            </a:r>
            <a:r>
              <a:rPr lang="hu-HU" b="0" i="0" dirty="0">
                <a:effectLst/>
                <a:latin typeface="gg sans"/>
              </a:rPr>
              <a:t> is linked </a:t>
            </a:r>
            <a:r>
              <a:rPr lang="hu-HU" b="0" i="0" dirty="0" err="1">
                <a:effectLst/>
                <a:latin typeface="gg sans"/>
              </a:rPr>
              <a:t>to</a:t>
            </a:r>
            <a:r>
              <a:rPr lang="hu-HU" b="0" i="0" dirty="0">
                <a:effectLst/>
                <a:latin typeface="gg sans"/>
              </a:rPr>
              <a:t> a </a:t>
            </a:r>
            <a:r>
              <a:rPr lang="hu-HU" b="0" i="0" dirty="0" err="1">
                <a:effectLst/>
                <a:latin typeface="gg sans"/>
              </a:rPr>
              <a:t>user</a:t>
            </a:r>
            <a:r>
              <a:rPr lang="hu-HU" b="0" i="0" dirty="0">
                <a:effectLst/>
                <a:latin typeface="gg sans"/>
              </a:rPr>
              <a:t> account </a:t>
            </a:r>
            <a:r>
              <a:rPr lang="hu-HU" b="0" i="0" dirty="0" err="1">
                <a:effectLst/>
                <a:latin typeface="gg sans"/>
              </a:rPr>
              <a:t>through</a:t>
            </a:r>
            <a:r>
              <a:rPr lang="hu-HU" b="0" i="0" dirty="0">
                <a:effectLst/>
                <a:latin typeface="gg sans"/>
              </a:rPr>
              <a:t> </a:t>
            </a:r>
            <a:r>
              <a:rPr lang="hu-HU" b="0" i="0" dirty="0" err="1">
                <a:effectLst/>
                <a:latin typeface="gg sans"/>
              </a:rPr>
              <a:t>the</a:t>
            </a:r>
            <a:r>
              <a:rPr lang="hu-HU" b="0" i="0" dirty="0">
                <a:effectLst/>
                <a:latin typeface="gg sans"/>
              </a:rPr>
              <a:t> </a:t>
            </a:r>
            <a:r>
              <a:rPr lang="hu-HU" b="0" i="0" dirty="0" err="1">
                <a:effectLst/>
                <a:latin typeface="gg sans"/>
              </a:rPr>
              <a:t>user_id</a:t>
            </a:r>
            <a:r>
              <a:rPr lang="hu-HU" b="0" i="0" dirty="0">
                <a:effectLst/>
                <a:latin typeface="gg sans"/>
              </a:rPr>
              <a:t> </a:t>
            </a:r>
            <a:r>
              <a:rPr lang="hu-HU" b="0" i="0" dirty="0" err="1">
                <a:effectLst/>
                <a:latin typeface="gg sans"/>
              </a:rPr>
              <a:t>field</a:t>
            </a:r>
            <a:r>
              <a:rPr lang="hu-HU" b="0" i="0" dirty="0">
                <a:effectLst/>
                <a:latin typeface="gg sans"/>
              </a:rPr>
              <a:t>. </a:t>
            </a:r>
            <a:r>
              <a:rPr lang="hu-HU" b="0" i="0" dirty="0" err="1">
                <a:effectLst/>
                <a:latin typeface="gg sans"/>
              </a:rPr>
              <a:t>Appointments</a:t>
            </a:r>
            <a:r>
              <a:rPr lang="hu-HU" b="0" i="0" dirty="0">
                <a:effectLst/>
                <a:latin typeface="gg sans"/>
              </a:rPr>
              <a:t> The </a:t>
            </a:r>
            <a:r>
              <a:rPr lang="hu-HU" b="0" i="0" dirty="0" err="1">
                <a:effectLst/>
                <a:latin typeface="gg sans"/>
              </a:rPr>
              <a:t>appointments</a:t>
            </a:r>
            <a:r>
              <a:rPr lang="hu-HU" b="0" i="0" dirty="0">
                <a:effectLst/>
                <a:latin typeface="gg sans"/>
              </a:rPr>
              <a:t> </a:t>
            </a:r>
            <a:r>
              <a:rPr lang="hu-HU" b="0" i="0" dirty="0" err="1">
                <a:effectLst/>
                <a:latin typeface="gg sans"/>
              </a:rPr>
              <a:t>table</a:t>
            </a:r>
            <a:r>
              <a:rPr lang="hu-HU" b="0" i="0" dirty="0">
                <a:effectLst/>
                <a:latin typeface="gg sans"/>
              </a:rPr>
              <a:t> </a:t>
            </a:r>
            <a:r>
              <a:rPr lang="hu-HU" b="0" i="0" dirty="0" err="1">
                <a:effectLst/>
                <a:latin typeface="gg sans"/>
              </a:rPr>
              <a:t>connects</a:t>
            </a:r>
            <a:r>
              <a:rPr lang="hu-HU" b="0" i="0" dirty="0">
                <a:effectLst/>
                <a:latin typeface="gg sans"/>
              </a:rPr>
              <a:t> </a:t>
            </a:r>
            <a:r>
              <a:rPr lang="hu-HU" b="0" i="0" dirty="0" err="1">
                <a:effectLst/>
                <a:latin typeface="gg sans"/>
              </a:rPr>
              <a:t>users</a:t>
            </a:r>
            <a:r>
              <a:rPr lang="hu-HU" b="0" i="0" dirty="0">
                <a:effectLst/>
                <a:latin typeface="gg sans"/>
              </a:rPr>
              <a:t> and service </a:t>
            </a:r>
            <a:r>
              <a:rPr lang="hu-HU" b="0" i="0" dirty="0" err="1">
                <a:effectLst/>
                <a:latin typeface="gg sans"/>
              </a:rPr>
              <a:t>providers</a:t>
            </a:r>
            <a:r>
              <a:rPr lang="hu-HU" b="0" i="0" dirty="0">
                <a:effectLst/>
                <a:latin typeface="gg sans"/>
              </a:rPr>
              <a:t>. </a:t>
            </a:r>
            <a:r>
              <a:rPr lang="hu-HU" b="0" i="0" dirty="0" err="1">
                <a:effectLst/>
                <a:latin typeface="gg sans"/>
              </a:rPr>
              <a:t>It</a:t>
            </a:r>
            <a:r>
              <a:rPr lang="hu-HU" b="0" i="0" dirty="0">
                <a:effectLst/>
                <a:latin typeface="gg sans"/>
              </a:rPr>
              <a:t> </a:t>
            </a:r>
            <a:r>
              <a:rPr lang="hu-HU" b="0" i="0" dirty="0" err="1">
                <a:effectLst/>
                <a:latin typeface="gg sans"/>
              </a:rPr>
              <a:t>stores</a:t>
            </a:r>
            <a:r>
              <a:rPr lang="hu-HU" b="0" i="0" dirty="0">
                <a:effectLst/>
                <a:latin typeface="gg sans"/>
              </a:rPr>
              <a:t>: The </a:t>
            </a:r>
            <a:r>
              <a:rPr lang="hu-HU" b="0" i="0" dirty="0" err="1">
                <a:effectLst/>
                <a:latin typeface="gg sans"/>
              </a:rPr>
              <a:t>date</a:t>
            </a:r>
            <a:r>
              <a:rPr lang="hu-HU" b="0" i="0" dirty="0">
                <a:effectLst/>
                <a:latin typeface="gg sans"/>
              </a:rPr>
              <a:t> and </a:t>
            </a:r>
            <a:r>
              <a:rPr lang="hu-HU" b="0" i="0" dirty="0" err="1">
                <a:effectLst/>
                <a:latin typeface="gg sans"/>
              </a:rPr>
              <a:t>time</a:t>
            </a:r>
            <a:r>
              <a:rPr lang="hu-HU" b="0" i="0" dirty="0">
                <a:effectLst/>
                <a:latin typeface="gg sans"/>
              </a:rPr>
              <a:t> of </a:t>
            </a:r>
            <a:r>
              <a:rPr lang="hu-HU" b="0" i="0" dirty="0" err="1">
                <a:effectLst/>
                <a:latin typeface="gg sans"/>
              </a:rPr>
              <a:t>the</a:t>
            </a:r>
            <a:r>
              <a:rPr lang="hu-HU" b="0" i="0" dirty="0">
                <a:effectLst/>
                <a:latin typeface="gg sans"/>
              </a:rPr>
              <a:t> </a:t>
            </a:r>
            <a:r>
              <a:rPr lang="hu-HU" b="0" i="0" dirty="0" err="1">
                <a:effectLst/>
                <a:latin typeface="gg sans"/>
              </a:rPr>
              <a:t>appointment</a:t>
            </a:r>
            <a:r>
              <a:rPr lang="hu-HU" b="0" i="0" dirty="0">
                <a:effectLst/>
                <a:latin typeface="gg sans"/>
              </a:rPr>
              <a:t>, The </a:t>
            </a:r>
            <a:r>
              <a:rPr lang="hu-HU" b="0" i="0" dirty="0" err="1">
                <a:effectLst/>
                <a:latin typeface="gg sans"/>
              </a:rPr>
              <a:t>user</a:t>
            </a:r>
            <a:r>
              <a:rPr lang="hu-HU" b="0" i="0" dirty="0">
                <a:effectLst/>
                <a:latin typeface="gg sans"/>
              </a:rPr>
              <a:t> and </a:t>
            </a:r>
            <a:r>
              <a:rPr lang="hu-HU" b="0" i="0" dirty="0" err="1">
                <a:effectLst/>
                <a:latin typeface="gg sans"/>
              </a:rPr>
              <a:t>provider</a:t>
            </a:r>
            <a:r>
              <a:rPr lang="hu-HU" b="0" i="0" dirty="0">
                <a:effectLst/>
                <a:latin typeface="gg sans"/>
              </a:rPr>
              <a:t> </a:t>
            </a:r>
            <a:r>
              <a:rPr lang="hu-HU" b="0" i="0" dirty="0" err="1">
                <a:effectLst/>
                <a:latin typeface="gg sans"/>
              </a:rPr>
              <a:t>IDs</a:t>
            </a:r>
            <a:r>
              <a:rPr lang="hu-HU" b="0" i="0" dirty="0">
                <a:effectLst/>
                <a:latin typeface="gg sans"/>
              </a:rPr>
              <a:t>, The </a:t>
            </a:r>
            <a:r>
              <a:rPr lang="hu-HU" b="0" i="0" dirty="0" err="1">
                <a:effectLst/>
                <a:latin typeface="gg sans"/>
              </a:rPr>
              <a:t>appointment</a:t>
            </a:r>
            <a:r>
              <a:rPr lang="hu-HU" b="0" i="0" dirty="0">
                <a:effectLst/>
                <a:latin typeface="gg sans"/>
              </a:rPr>
              <a:t> status (</a:t>
            </a:r>
            <a:r>
              <a:rPr lang="hu-HU" b="0" i="0" dirty="0" err="1">
                <a:effectLst/>
                <a:latin typeface="gg sans"/>
              </a:rPr>
              <a:t>pending</a:t>
            </a:r>
            <a:r>
              <a:rPr lang="hu-HU" b="0" i="0" dirty="0">
                <a:effectLst/>
                <a:latin typeface="gg sans"/>
              </a:rPr>
              <a:t>, </a:t>
            </a:r>
            <a:r>
              <a:rPr lang="hu-HU" b="0" i="0" dirty="0" err="1">
                <a:effectLst/>
                <a:latin typeface="gg sans"/>
              </a:rPr>
              <a:t>confirmed</a:t>
            </a:r>
            <a:r>
              <a:rPr lang="hu-HU" b="0" i="0" dirty="0">
                <a:effectLst/>
                <a:latin typeface="gg sans"/>
              </a:rPr>
              <a:t>, </a:t>
            </a:r>
            <a:r>
              <a:rPr lang="hu-HU" b="0" i="0" dirty="0" err="1">
                <a:effectLst/>
                <a:latin typeface="gg sans"/>
              </a:rPr>
              <a:t>completed</a:t>
            </a:r>
            <a:r>
              <a:rPr lang="hu-HU" b="0" i="0" dirty="0">
                <a:effectLst/>
                <a:latin typeface="gg sans"/>
              </a:rPr>
              <a:t>, </a:t>
            </a:r>
            <a:r>
              <a:rPr lang="hu-HU" b="0" i="0" dirty="0" err="1">
                <a:effectLst/>
                <a:latin typeface="gg sans"/>
              </a:rPr>
              <a:t>canceled</a:t>
            </a:r>
            <a:r>
              <a:rPr lang="hu-HU" b="0" i="0" dirty="0">
                <a:effectLst/>
                <a:latin typeface="gg sans"/>
              </a:rPr>
              <a:t>). </a:t>
            </a:r>
            <a:r>
              <a:rPr lang="hu-HU" b="0" i="0" dirty="0" err="1">
                <a:effectLst/>
                <a:latin typeface="gg sans"/>
              </a:rPr>
              <a:t>Notifications</a:t>
            </a:r>
            <a:r>
              <a:rPr lang="hu-HU" b="0" i="0" dirty="0">
                <a:effectLst/>
                <a:latin typeface="gg sans"/>
              </a:rPr>
              <a:t> The </a:t>
            </a:r>
            <a:r>
              <a:rPr lang="hu-HU" b="0" i="0" dirty="0" err="1">
                <a:effectLst/>
                <a:latin typeface="gg sans"/>
              </a:rPr>
              <a:t>notifications</a:t>
            </a:r>
            <a:r>
              <a:rPr lang="hu-HU" b="0" i="0" dirty="0">
                <a:effectLst/>
                <a:latin typeface="gg sans"/>
              </a:rPr>
              <a:t> </a:t>
            </a:r>
            <a:r>
              <a:rPr lang="hu-HU" b="0" i="0" dirty="0" err="1">
                <a:effectLst/>
                <a:latin typeface="gg sans"/>
              </a:rPr>
              <a:t>table</a:t>
            </a:r>
            <a:r>
              <a:rPr lang="hu-HU" b="0" i="0" dirty="0">
                <a:effectLst/>
                <a:latin typeface="gg sans"/>
              </a:rPr>
              <a:t> </a:t>
            </a:r>
            <a:r>
              <a:rPr lang="hu-HU" b="0" i="0" dirty="0" err="1">
                <a:effectLst/>
                <a:latin typeface="gg sans"/>
              </a:rPr>
              <a:t>stores</a:t>
            </a:r>
            <a:r>
              <a:rPr lang="hu-HU" b="0" i="0" dirty="0">
                <a:effectLst/>
                <a:latin typeface="gg sans"/>
              </a:rPr>
              <a:t> </a:t>
            </a:r>
            <a:r>
              <a:rPr lang="hu-HU" b="0" i="0" dirty="0" err="1">
                <a:effectLst/>
                <a:latin typeface="gg sans"/>
              </a:rPr>
              <a:t>messages</a:t>
            </a:r>
            <a:r>
              <a:rPr lang="hu-HU" b="0" i="0" dirty="0">
                <a:effectLst/>
                <a:latin typeface="gg sans"/>
              </a:rPr>
              <a:t> </a:t>
            </a:r>
            <a:r>
              <a:rPr lang="hu-HU" b="0" i="0" dirty="0" err="1">
                <a:effectLst/>
                <a:latin typeface="gg sans"/>
              </a:rPr>
              <a:t>sent</a:t>
            </a:r>
            <a:r>
              <a:rPr lang="hu-HU" b="0" i="0" dirty="0">
                <a:effectLst/>
                <a:latin typeface="gg sans"/>
              </a:rPr>
              <a:t> </a:t>
            </a:r>
            <a:r>
              <a:rPr lang="hu-HU" b="0" i="0" dirty="0" err="1">
                <a:effectLst/>
                <a:latin typeface="gg sans"/>
              </a:rPr>
              <a:t>by</a:t>
            </a:r>
            <a:r>
              <a:rPr lang="hu-HU" b="0" i="0" dirty="0">
                <a:effectLst/>
                <a:latin typeface="gg sans"/>
              </a:rPr>
              <a:t> </a:t>
            </a:r>
            <a:r>
              <a:rPr lang="hu-HU" b="0" i="0" dirty="0" err="1">
                <a:effectLst/>
                <a:latin typeface="gg sans"/>
              </a:rPr>
              <a:t>the</a:t>
            </a:r>
            <a:r>
              <a:rPr lang="hu-HU" b="0" i="0" dirty="0">
                <a:effectLst/>
                <a:latin typeface="gg sans"/>
              </a:rPr>
              <a:t> </a:t>
            </a:r>
            <a:r>
              <a:rPr lang="hu-HU" b="0" i="0" dirty="0" err="1">
                <a:effectLst/>
                <a:latin typeface="gg sans"/>
              </a:rPr>
              <a:t>system</a:t>
            </a:r>
            <a:r>
              <a:rPr lang="hu-HU" b="0" i="0" dirty="0">
                <a:effectLst/>
                <a:latin typeface="gg sans"/>
              </a:rPr>
              <a:t>, </a:t>
            </a:r>
            <a:r>
              <a:rPr lang="hu-HU" b="0" i="0" dirty="0" err="1">
                <a:effectLst/>
                <a:latin typeface="gg sans"/>
              </a:rPr>
              <a:t>such</a:t>
            </a:r>
            <a:r>
              <a:rPr lang="hu-HU" b="0" i="0" dirty="0">
                <a:effectLst/>
                <a:latin typeface="gg sans"/>
              </a:rPr>
              <a:t> </a:t>
            </a:r>
            <a:r>
              <a:rPr lang="hu-HU" b="0" i="0" dirty="0" err="1">
                <a:effectLst/>
                <a:latin typeface="gg sans"/>
              </a:rPr>
              <a:t>as</a:t>
            </a:r>
            <a:r>
              <a:rPr lang="hu-HU" b="0" i="0" dirty="0">
                <a:effectLst/>
                <a:latin typeface="gg sans"/>
              </a:rPr>
              <a:t>: </a:t>
            </a:r>
            <a:r>
              <a:rPr lang="hu-HU" b="0" i="0" dirty="0" err="1">
                <a:effectLst/>
                <a:latin typeface="gg sans"/>
              </a:rPr>
              <a:t>Booking</a:t>
            </a:r>
            <a:r>
              <a:rPr lang="hu-HU" b="0" i="0" dirty="0">
                <a:effectLst/>
                <a:latin typeface="gg sans"/>
              </a:rPr>
              <a:t> </a:t>
            </a:r>
            <a:r>
              <a:rPr lang="hu-HU" b="0" i="0" dirty="0" err="1">
                <a:effectLst/>
                <a:latin typeface="gg sans"/>
              </a:rPr>
              <a:t>confirmations</a:t>
            </a:r>
            <a:r>
              <a:rPr lang="hu-HU" b="0" i="0" dirty="0">
                <a:effectLst/>
                <a:latin typeface="gg sans"/>
              </a:rPr>
              <a:t>, </a:t>
            </a:r>
            <a:r>
              <a:rPr lang="hu-HU" b="0" i="0" dirty="0" err="1">
                <a:effectLst/>
                <a:latin typeface="gg sans"/>
              </a:rPr>
              <a:t>Reminders</a:t>
            </a:r>
            <a:r>
              <a:rPr lang="hu-HU" b="0" i="0" dirty="0">
                <a:effectLst/>
                <a:latin typeface="gg sans"/>
              </a:rPr>
              <a:t>, </a:t>
            </a:r>
            <a:r>
              <a:rPr lang="hu-HU" b="0" i="0" dirty="0" err="1">
                <a:effectLst/>
                <a:latin typeface="gg sans"/>
              </a:rPr>
              <a:t>Updates</a:t>
            </a:r>
            <a:r>
              <a:rPr lang="hu-HU" b="0" i="0" dirty="0">
                <a:effectLst/>
                <a:latin typeface="gg sans"/>
              </a:rPr>
              <a:t> </a:t>
            </a:r>
            <a:r>
              <a:rPr lang="hu-HU" b="0" i="0" dirty="0" err="1">
                <a:effectLst/>
                <a:latin typeface="gg sans"/>
              </a:rPr>
              <a:t>or</a:t>
            </a:r>
            <a:r>
              <a:rPr lang="hu-HU" b="0" i="0" dirty="0">
                <a:effectLst/>
                <a:latin typeface="gg sans"/>
              </a:rPr>
              <a:t> </a:t>
            </a:r>
            <a:r>
              <a:rPr lang="hu-HU" b="0" i="0" dirty="0" err="1">
                <a:effectLst/>
                <a:latin typeface="gg sans"/>
              </a:rPr>
              <a:t>cancellations</a:t>
            </a:r>
            <a:r>
              <a:rPr lang="hu-HU" b="0" i="0" dirty="0">
                <a:effectLst/>
                <a:latin typeface="gg sans"/>
              </a:rPr>
              <a:t>. </a:t>
            </a:r>
            <a:r>
              <a:rPr lang="hu-HU" b="0" i="0" dirty="0" err="1">
                <a:effectLst/>
                <a:latin typeface="gg sans"/>
              </a:rPr>
              <a:t>Ratings</a:t>
            </a:r>
            <a:r>
              <a:rPr lang="hu-HU" b="0" i="0" dirty="0">
                <a:effectLst/>
                <a:latin typeface="gg sans"/>
              </a:rPr>
              <a:t> </a:t>
            </a:r>
            <a:r>
              <a:rPr lang="hu-HU" b="0" i="0" dirty="0" err="1">
                <a:effectLst/>
                <a:latin typeface="gg sans"/>
              </a:rPr>
              <a:t>Users</a:t>
            </a:r>
            <a:r>
              <a:rPr lang="hu-HU" b="0" i="0" dirty="0">
                <a:effectLst/>
                <a:latin typeface="gg sans"/>
              </a:rPr>
              <a:t> </a:t>
            </a:r>
            <a:r>
              <a:rPr lang="hu-HU" b="0" i="0" dirty="0" err="1">
                <a:effectLst/>
                <a:latin typeface="gg sans"/>
              </a:rPr>
              <a:t>can</a:t>
            </a:r>
            <a:r>
              <a:rPr lang="hu-HU" b="0" i="0" dirty="0">
                <a:effectLst/>
                <a:latin typeface="gg sans"/>
              </a:rPr>
              <a:t> </a:t>
            </a:r>
            <a:r>
              <a:rPr lang="hu-HU" b="0" i="0" dirty="0" err="1">
                <a:effectLst/>
                <a:latin typeface="gg sans"/>
              </a:rPr>
              <a:t>rate</a:t>
            </a:r>
            <a:r>
              <a:rPr lang="hu-HU" b="0" i="0" dirty="0">
                <a:effectLst/>
                <a:latin typeface="gg sans"/>
              </a:rPr>
              <a:t> service </a:t>
            </a:r>
            <a:r>
              <a:rPr lang="hu-HU" b="0" i="0" dirty="0" err="1">
                <a:effectLst/>
                <a:latin typeface="gg sans"/>
              </a:rPr>
              <a:t>providers</a:t>
            </a:r>
            <a:r>
              <a:rPr lang="hu-HU" b="0" i="0" dirty="0">
                <a:effectLst/>
                <a:latin typeface="gg sans"/>
              </a:rPr>
              <a:t> </a:t>
            </a:r>
            <a:r>
              <a:rPr lang="hu-HU" b="0" i="0" dirty="0" err="1">
                <a:effectLst/>
                <a:latin typeface="gg sans"/>
              </a:rPr>
              <a:t>after</a:t>
            </a:r>
            <a:r>
              <a:rPr lang="hu-HU" b="0" i="0" dirty="0">
                <a:effectLst/>
                <a:latin typeface="gg sans"/>
              </a:rPr>
              <a:t> an </a:t>
            </a:r>
            <a:r>
              <a:rPr lang="hu-HU" b="0" i="0" dirty="0" err="1">
                <a:effectLst/>
                <a:latin typeface="gg sans"/>
              </a:rPr>
              <a:t>appointment</a:t>
            </a:r>
            <a:r>
              <a:rPr lang="hu-HU" b="0" i="0" dirty="0">
                <a:effectLst/>
                <a:latin typeface="gg sans"/>
              </a:rPr>
              <a:t>. The </a:t>
            </a:r>
            <a:r>
              <a:rPr lang="hu-HU" b="0" i="0" dirty="0" err="1">
                <a:effectLst/>
                <a:latin typeface="gg sans"/>
              </a:rPr>
              <a:t>ratings</a:t>
            </a:r>
            <a:r>
              <a:rPr lang="hu-HU" b="0" i="0" dirty="0">
                <a:effectLst/>
                <a:latin typeface="gg sans"/>
              </a:rPr>
              <a:t> </a:t>
            </a:r>
            <a:r>
              <a:rPr lang="hu-HU" b="0" i="0" dirty="0" err="1">
                <a:effectLst/>
                <a:latin typeface="gg sans"/>
              </a:rPr>
              <a:t>table</a:t>
            </a:r>
            <a:r>
              <a:rPr lang="hu-HU" b="0" i="0" dirty="0">
                <a:effectLst/>
                <a:latin typeface="gg sans"/>
              </a:rPr>
              <a:t> </a:t>
            </a:r>
            <a:r>
              <a:rPr lang="hu-HU" b="0" i="0" dirty="0" err="1">
                <a:effectLst/>
                <a:latin typeface="gg sans"/>
              </a:rPr>
              <a:t>stores</a:t>
            </a:r>
            <a:r>
              <a:rPr lang="hu-HU" b="0" i="0" dirty="0">
                <a:effectLst/>
                <a:latin typeface="gg sans"/>
              </a:rPr>
              <a:t> </a:t>
            </a:r>
            <a:r>
              <a:rPr lang="hu-HU" b="0" i="0" dirty="0" err="1">
                <a:effectLst/>
                <a:latin typeface="gg sans"/>
              </a:rPr>
              <a:t>scores</a:t>
            </a:r>
            <a:r>
              <a:rPr lang="hu-HU" b="0" i="0" dirty="0">
                <a:effectLst/>
                <a:latin typeface="gg sans"/>
              </a:rPr>
              <a:t> </a:t>
            </a:r>
            <a:r>
              <a:rPr lang="hu-HU" b="0" i="0" dirty="0" err="1">
                <a:effectLst/>
                <a:latin typeface="gg sans"/>
              </a:rPr>
              <a:t>from</a:t>
            </a:r>
            <a:r>
              <a:rPr lang="hu-HU" b="0" i="0" dirty="0">
                <a:effectLst/>
                <a:latin typeface="gg sans"/>
              </a:rPr>
              <a:t> 1 </a:t>
            </a:r>
            <a:r>
              <a:rPr lang="hu-HU" b="0" i="0" dirty="0" err="1">
                <a:effectLst/>
                <a:latin typeface="gg sans"/>
              </a:rPr>
              <a:t>to</a:t>
            </a:r>
            <a:r>
              <a:rPr lang="hu-HU" b="0" i="0" dirty="0">
                <a:effectLst/>
                <a:latin typeface="gg sans"/>
              </a:rPr>
              <a:t> 5 </a:t>
            </a:r>
            <a:r>
              <a:rPr lang="hu-HU" b="0" i="0" dirty="0" err="1">
                <a:effectLst/>
                <a:latin typeface="gg sans"/>
              </a:rPr>
              <a:t>stars</a:t>
            </a:r>
            <a:r>
              <a:rPr lang="hu-HU" b="0" i="0" dirty="0">
                <a:effectLst/>
                <a:latin typeface="gg sans"/>
              </a:rPr>
              <a:t>.</a:t>
            </a:r>
            <a:endParaRPr lang="hu-HU" dirty="0"/>
          </a:p>
        </p:txBody>
      </p:sp>
      <p:sp>
        <p:nvSpPr>
          <p:cNvPr id="4" name="Dia számának helye 3"/>
          <p:cNvSpPr>
            <a:spLocks noGrp="1"/>
          </p:cNvSpPr>
          <p:nvPr>
            <p:ph type="sldNum" sz="quarter" idx="5"/>
          </p:nvPr>
        </p:nvSpPr>
        <p:spPr/>
        <p:txBody>
          <a:bodyPr/>
          <a:lstStyle/>
          <a:p>
            <a:fld id="{4F79063E-5CA5-47B3-A5C5-6A3DA1A55622}" type="slidenum">
              <a:rPr lang="hu-HU" smtClean="0"/>
              <a:t>6</a:t>
            </a:fld>
            <a:endParaRPr lang="hu-HU"/>
          </a:p>
        </p:txBody>
      </p:sp>
    </p:spTree>
    <p:extLst>
      <p:ext uri="{BB962C8B-B14F-4D97-AF65-F5344CB8AC3E}">
        <p14:creationId xmlns:p14="http://schemas.microsoft.com/office/powerpoint/2010/main" val="1831855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-PHP: The reason we chose it, is because of it’s easy integration with MYSQL, built in session handling for user authentication, and for it’s wide community support and documentation.</a:t>
            </a:r>
            <a:br>
              <a:rPr lang="en-US" sz="1800" dirty="0">
                <a:effectLst/>
                <a:latin typeface="Aptos" panose="020B0004020202020204" pitchFamily="34" charset="0"/>
                <a:ea typeface="Aptos" panose="020B0004020202020204" pitchFamily="34" charset="0"/>
                <a:cs typeface="Times New Roman" panose="02020603050405020304" pitchFamily="18" charset="0"/>
              </a:rPr>
            </a:br>
            <a:br>
              <a:rPr lang="en-US" sz="1800" dirty="0">
                <a:effectLst/>
                <a:latin typeface="Aptos" panose="020B0004020202020204" pitchFamily="34" charset="0"/>
                <a:ea typeface="Aptos" panose="020B0004020202020204" pitchFamily="34" charset="0"/>
                <a:cs typeface="Times New Roman" panose="02020603050405020304" pitchFamily="18" charset="0"/>
              </a:rPr>
            </a:br>
            <a:r>
              <a:rPr lang="en-US" sz="1800" dirty="0">
                <a:effectLst/>
                <a:latin typeface="Aptos" panose="020B0004020202020204" pitchFamily="34" charset="0"/>
                <a:ea typeface="Aptos" panose="020B0004020202020204" pitchFamily="34" charset="0"/>
                <a:cs typeface="Times New Roman" panose="02020603050405020304" pitchFamily="18" charset="0"/>
              </a:rPr>
              <a:t>-MYSQL: We chose it for it’s reliable database system, great performance with PHP, and because it supports complex query support for our appointments and ratings.</a:t>
            </a:r>
            <a:br>
              <a:rPr lang="en-US" sz="1800" dirty="0">
                <a:effectLst/>
                <a:latin typeface="Aptos" panose="020B0004020202020204" pitchFamily="34" charset="0"/>
                <a:ea typeface="Aptos" panose="020B0004020202020204" pitchFamily="34" charset="0"/>
                <a:cs typeface="Times New Roman" panose="02020603050405020304" pitchFamily="18" charset="0"/>
              </a:rPr>
            </a:br>
            <a:br>
              <a:rPr lang="en-US" sz="1800" dirty="0">
                <a:effectLst/>
                <a:latin typeface="Aptos" panose="020B0004020202020204" pitchFamily="34" charset="0"/>
                <a:ea typeface="Aptos" panose="020B0004020202020204" pitchFamily="34" charset="0"/>
                <a:cs typeface="Times New Roman" panose="02020603050405020304" pitchFamily="18" charset="0"/>
              </a:rPr>
            </a:br>
            <a:r>
              <a:rPr lang="en-US" sz="1800" dirty="0">
                <a:effectLst/>
                <a:latin typeface="Aptos" panose="020B0004020202020204" pitchFamily="34" charset="0"/>
                <a:ea typeface="Aptos" panose="020B0004020202020204" pitchFamily="34" charset="0"/>
                <a:cs typeface="Times New Roman" panose="02020603050405020304" pitchFamily="18" charset="0"/>
              </a:rPr>
              <a:t>-JAVASCRIPT: Was chosen because of its dynamic user interactions, AJAX calls for bookings, and form validations.</a:t>
            </a:r>
            <a:br>
              <a:rPr lang="en-US" sz="1800" dirty="0">
                <a:effectLst/>
                <a:latin typeface="Aptos" panose="020B0004020202020204" pitchFamily="34" charset="0"/>
                <a:ea typeface="Aptos" panose="020B0004020202020204" pitchFamily="34" charset="0"/>
                <a:cs typeface="Times New Roman" panose="02020603050405020304" pitchFamily="18" charset="0"/>
              </a:rPr>
            </a:br>
            <a:r>
              <a:rPr lang="en-US" sz="1800" dirty="0">
                <a:effectLst/>
                <a:latin typeface="Aptos" panose="020B0004020202020204" pitchFamily="34" charset="0"/>
                <a:ea typeface="Aptos" panose="020B0004020202020204" pitchFamily="34" charset="0"/>
                <a:cs typeface="Times New Roman" panose="02020603050405020304" pitchFamily="18" charset="0"/>
              </a:rPr>
              <a:t>-------------AJAX - </a:t>
            </a:r>
            <a:r>
              <a:rPr lang="en-US" sz="1800" dirty="0" err="1">
                <a:effectLst/>
                <a:latin typeface="Aptos" panose="020B0004020202020204" pitchFamily="34" charset="0"/>
                <a:ea typeface="Aptos" panose="020B0004020202020204" pitchFamily="34" charset="0"/>
                <a:cs typeface="Times New Roman" panose="02020603050405020304" pitchFamily="18" charset="0"/>
              </a:rPr>
              <a:t>frissíti</a:t>
            </a:r>
            <a:r>
              <a:rPr lang="en-US" sz="1800" dirty="0">
                <a:effectLst/>
                <a:latin typeface="Aptos" panose="020B0004020202020204" pitchFamily="34" charset="0"/>
                <a:ea typeface="Aptos" panose="020B0004020202020204" pitchFamily="34" charset="0"/>
                <a:cs typeface="Times New Roman" panose="02020603050405020304" pitchFamily="18" charset="0"/>
              </a:rPr>
              <a:t> </a:t>
            </a:r>
            <a:r>
              <a:rPr lang="en-US" sz="1800" dirty="0" err="1">
                <a:effectLst/>
                <a:latin typeface="Aptos" panose="020B0004020202020204" pitchFamily="34" charset="0"/>
                <a:ea typeface="Aptos" panose="020B0004020202020204" pitchFamily="34" charset="0"/>
                <a:cs typeface="Times New Roman" panose="02020603050405020304" pitchFamily="18" charset="0"/>
              </a:rPr>
              <a:t>az</a:t>
            </a:r>
            <a:r>
              <a:rPr lang="en-US" sz="1800" dirty="0">
                <a:effectLst/>
                <a:latin typeface="Aptos" panose="020B0004020202020204" pitchFamily="34" charset="0"/>
                <a:ea typeface="Aptos" panose="020B0004020202020204" pitchFamily="34" charset="0"/>
                <a:cs typeface="Times New Roman" panose="02020603050405020304" pitchFamily="18" charset="0"/>
              </a:rPr>
              <a:t> </a:t>
            </a:r>
            <a:r>
              <a:rPr lang="en-US" sz="1800" dirty="0" err="1">
                <a:effectLst/>
                <a:latin typeface="Aptos" panose="020B0004020202020204" pitchFamily="34" charset="0"/>
                <a:ea typeface="Aptos" panose="020B0004020202020204" pitchFamily="34" charset="0"/>
                <a:cs typeface="Times New Roman" panose="02020603050405020304" pitchFamily="18" charset="0"/>
              </a:rPr>
              <a:t>oldal</a:t>
            </a:r>
            <a:r>
              <a:rPr lang="en-US" sz="1800" dirty="0">
                <a:effectLst/>
                <a:latin typeface="Aptos" panose="020B0004020202020204" pitchFamily="34" charset="0"/>
                <a:ea typeface="Aptos" panose="020B0004020202020204" pitchFamily="34" charset="0"/>
                <a:cs typeface="Times New Roman" panose="02020603050405020304" pitchFamily="18" charset="0"/>
              </a:rPr>
              <a:t> </a:t>
            </a:r>
            <a:r>
              <a:rPr lang="en-US" sz="1800" dirty="0" err="1">
                <a:effectLst/>
                <a:latin typeface="Aptos" panose="020B0004020202020204" pitchFamily="34" charset="0"/>
                <a:ea typeface="Aptos" panose="020B0004020202020204" pitchFamily="34" charset="0"/>
                <a:cs typeface="Times New Roman" panose="02020603050405020304" pitchFamily="18" charset="0"/>
              </a:rPr>
              <a:t>tulajdonságait</a:t>
            </a:r>
            <a:r>
              <a:rPr lang="en-US" sz="1800" dirty="0">
                <a:effectLst/>
                <a:latin typeface="Aptos" panose="020B0004020202020204" pitchFamily="34" charset="0"/>
                <a:ea typeface="Aptos" panose="020B0004020202020204" pitchFamily="34" charset="0"/>
                <a:cs typeface="Times New Roman" panose="02020603050405020304" pitchFamily="18" charset="0"/>
              </a:rPr>
              <a:t>, f5 </a:t>
            </a:r>
            <a:r>
              <a:rPr lang="en-US" sz="1800" dirty="0" err="1">
                <a:effectLst/>
                <a:latin typeface="Aptos" panose="020B0004020202020204" pitchFamily="34" charset="0"/>
                <a:ea typeface="Aptos" panose="020B0004020202020204" pitchFamily="34" charset="0"/>
                <a:cs typeface="Times New Roman" panose="02020603050405020304" pitchFamily="18" charset="0"/>
              </a:rPr>
              <a:t>nélkül</a:t>
            </a:r>
            <a:r>
              <a:rPr lang="en-US" sz="1800" dirty="0">
                <a:effectLst/>
                <a:latin typeface="Aptos" panose="020B0004020202020204" pitchFamily="34" charset="0"/>
                <a:ea typeface="Aptos" panose="020B0004020202020204" pitchFamily="34" charset="0"/>
                <a:cs typeface="Times New Roman" panose="02020603050405020304" pitchFamily="18" charset="0"/>
              </a:rPr>
              <a:t>[It updates the webpage without having to refresh.</a:t>
            </a:r>
            <a:br>
              <a:rPr lang="en-US" sz="1800" dirty="0">
                <a:effectLst/>
                <a:latin typeface="Aptos" panose="020B0004020202020204" pitchFamily="34" charset="0"/>
                <a:ea typeface="Aptos" panose="020B0004020202020204" pitchFamily="34" charset="0"/>
                <a:cs typeface="Times New Roman" panose="02020603050405020304" pitchFamily="18" charset="0"/>
              </a:rPr>
            </a:br>
            <a:br>
              <a:rPr lang="en-US" sz="1800" dirty="0">
                <a:effectLst/>
                <a:latin typeface="Aptos" panose="020B0004020202020204" pitchFamily="34" charset="0"/>
                <a:ea typeface="Aptos" panose="020B0004020202020204" pitchFamily="34" charset="0"/>
                <a:cs typeface="Times New Roman" panose="02020603050405020304" pitchFamily="18" charset="0"/>
              </a:rPr>
            </a:br>
            <a:r>
              <a:rPr lang="en-US" sz="1800" dirty="0">
                <a:effectLst/>
                <a:latin typeface="Aptos" panose="020B0004020202020204" pitchFamily="34" charset="0"/>
                <a:ea typeface="Aptos" panose="020B0004020202020204" pitchFamily="34" charset="0"/>
                <a:cs typeface="Times New Roman" panose="02020603050405020304" pitchFamily="18" charset="0"/>
              </a:rPr>
              <a:t>-CSS/BOOTSTRAP: We needed it for it’s responsive designs, professional UI elements, and cross-browser compatibility.</a:t>
            </a:r>
            <a:br>
              <a:rPr lang="en-US" sz="1800" dirty="0">
                <a:effectLst/>
                <a:latin typeface="Aptos" panose="020B0004020202020204" pitchFamily="34" charset="0"/>
                <a:ea typeface="Aptos" panose="020B0004020202020204" pitchFamily="34" charset="0"/>
                <a:cs typeface="Times New Roman" panose="02020603050405020304" pitchFamily="18" charset="0"/>
              </a:rPr>
            </a:br>
            <a:endParaRPr lang="hu-HU" dirty="0"/>
          </a:p>
        </p:txBody>
      </p:sp>
      <p:sp>
        <p:nvSpPr>
          <p:cNvPr id="4" name="Dia számának helye 3"/>
          <p:cNvSpPr>
            <a:spLocks noGrp="1"/>
          </p:cNvSpPr>
          <p:nvPr>
            <p:ph type="sldNum" sz="quarter" idx="5"/>
          </p:nvPr>
        </p:nvSpPr>
        <p:spPr/>
        <p:txBody>
          <a:bodyPr/>
          <a:lstStyle/>
          <a:p>
            <a:fld id="{4F79063E-5CA5-47B3-A5C5-6A3DA1A55622}" type="slidenum">
              <a:rPr lang="hu-HU" smtClean="0"/>
              <a:t>7</a:t>
            </a:fld>
            <a:endParaRPr lang="hu-HU"/>
          </a:p>
        </p:txBody>
      </p:sp>
    </p:spTree>
    <p:extLst>
      <p:ext uri="{BB962C8B-B14F-4D97-AF65-F5344CB8AC3E}">
        <p14:creationId xmlns:p14="http://schemas.microsoft.com/office/powerpoint/2010/main" val="10917962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Here, you can see what </a:t>
            </a:r>
            <a:r>
              <a:rPr lang="en-US" sz="1800" dirty="0" err="1">
                <a:effectLst/>
                <a:latin typeface="Aptos" panose="020B0004020202020204" pitchFamily="34" charset="0"/>
                <a:ea typeface="Aptos" panose="020B0004020202020204" pitchFamily="34" charset="0"/>
                <a:cs typeface="Times New Roman" panose="02020603050405020304" pitchFamily="18" charset="0"/>
              </a:rPr>
              <a:t>Tamás</a:t>
            </a:r>
            <a:r>
              <a:rPr lang="en-US" sz="1800" dirty="0">
                <a:effectLst/>
                <a:latin typeface="Aptos" panose="020B0004020202020204" pitchFamily="34" charset="0"/>
                <a:ea typeface="Aptos" panose="020B0004020202020204" pitchFamily="34" charset="0"/>
                <a:cs typeface="Times New Roman" panose="02020603050405020304" pitchFamily="18" charset="0"/>
              </a:rPr>
              <a:t> has been working on, he’s been mostly working on the frontend side, but later joined in the backend development as well.</a:t>
            </a:r>
            <a:br>
              <a:rPr lang="en-US" sz="1800" dirty="0">
                <a:effectLst/>
                <a:latin typeface="Aptos" panose="020B0004020202020204" pitchFamily="34" charset="0"/>
                <a:ea typeface="Aptos" panose="020B0004020202020204" pitchFamily="34" charset="0"/>
                <a:cs typeface="Times New Roman" panose="02020603050405020304" pitchFamily="18" charset="0"/>
              </a:rPr>
            </a:br>
            <a:r>
              <a:rPr lang="en-US" sz="1800" dirty="0">
                <a:effectLst/>
                <a:latin typeface="Aptos" panose="020B0004020202020204" pitchFamily="34" charset="0"/>
                <a:ea typeface="Aptos" panose="020B0004020202020204" pitchFamily="34" charset="0"/>
                <a:cs typeface="Times New Roman" panose="02020603050405020304" pitchFamily="18" charset="0"/>
              </a:rPr>
              <a:t>Excuse us if this isn’t really readable, and is all over the place, but we are still somewhat in the learning phase (</a:t>
            </a:r>
            <a:r>
              <a:rPr lang="en-US" sz="1800" dirty="0" err="1">
                <a:effectLst/>
                <a:latin typeface="Aptos" panose="020B0004020202020204" pitchFamily="34" charset="0"/>
                <a:ea typeface="Aptos" panose="020B0004020202020204" pitchFamily="34" charset="0"/>
                <a:cs typeface="Times New Roman" panose="02020603050405020304" pitchFamily="18" charset="0"/>
              </a:rPr>
              <a:t>féz</a:t>
            </a:r>
            <a:r>
              <a:rPr lang="en-US" sz="1800" dirty="0">
                <a:effectLst/>
                <a:latin typeface="Aptos" panose="020B0004020202020204" pitchFamily="34" charset="0"/>
                <a:ea typeface="Aptos" panose="020B0004020202020204" pitchFamily="34" charset="0"/>
                <a:cs typeface="Times New Roman" panose="02020603050405020304" pitchFamily="18" charset="0"/>
              </a:rPr>
              <a:t>) of how to use </a:t>
            </a:r>
            <a:r>
              <a:rPr lang="en-US" sz="1800" dirty="0" err="1">
                <a:effectLst/>
                <a:latin typeface="Aptos" panose="020B0004020202020204" pitchFamily="34" charset="0"/>
                <a:ea typeface="Aptos" panose="020B0004020202020204" pitchFamily="34" charset="0"/>
                <a:cs typeface="Times New Roman" panose="02020603050405020304" pitchFamily="18" charset="0"/>
              </a:rPr>
              <a:t>github</a:t>
            </a:r>
            <a:r>
              <a:rPr lang="en-US" sz="1800" dirty="0">
                <a:effectLst/>
                <a:latin typeface="Aptos" panose="020B0004020202020204" pitchFamily="34" charset="0"/>
                <a:ea typeface="Aptos" panose="020B0004020202020204" pitchFamily="34" charset="0"/>
                <a:cs typeface="Times New Roman" panose="02020603050405020304" pitchFamily="18" charset="0"/>
              </a:rPr>
              <a:t>.</a:t>
            </a:r>
            <a:r>
              <a:rPr lang="hu-HU" dirty="0">
                <a:effectLst/>
              </a:rPr>
              <a:t> </a:t>
            </a:r>
            <a:endParaRPr lang="hu-HU" dirty="0"/>
          </a:p>
        </p:txBody>
      </p:sp>
      <p:sp>
        <p:nvSpPr>
          <p:cNvPr id="4" name="Dia számának helye 3"/>
          <p:cNvSpPr>
            <a:spLocks noGrp="1"/>
          </p:cNvSpPr>
          <p:nvPr>
            <p:ph type="sldNum" sz="quarter" idx="5"/>
          </p:nvPr>
        </p:nvSpPr>
        <p:spPr/>
        <p:txBody>
          <a:bodyPr/>
          <a:lstStyle/>
          <a:p>
            <a:fld id="{4F79063E-5CA5-47B3-A5C5-6A3DA1A55622}" type="slidenum">
              <a:rPr lang="hu-HU" smtClean="0"/>
              <a:t>8</a:t>
            </a:fld>
            <a:endParaRPr lang="hu-HU"/>
          </a:p>
        </p:txBody>
      </p:sp>
    </p:spTree>
    <p:extLst>
      <p:ext uri="{BB962C8B-B14F-4D97-AF65-F5344CB8AC3E}">
        <p14:creationId xmlns:p14="http://schemas.microsoft.com/office/powerpoint/2010/main" val="39400951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This is what I’ve been working on, I’ve been working on the backend, mostly PHP, but also helped out in some </a:t>
            </a:r>
            <a:r>
              <a:rPr lang="en-US" sz="1800" dirty="0" err="1">
                <a:effectLst/>
                <a:latin typeface="Aptos" panose="020B0004020202020204" pitchFamily="34" charset="0"/>
                <a:ea typeface="Aptos" panose="020B0004020202020204" pitchFamily="34" charset="0"/>
                <a:cs typeface="Times New Roman" panose="02020603050405020304" pitchFamily="18" charset="0"/>
              </a:rPr>
              <a:t>javascript</a:t>
            </a:r>
            <a:r>
              <a:rPr lang="en-US" sz="1800" dirty="0">
                <a:effectLst/>
                <a:latin typeface="Aptos" panose="020B0004020202020204" pitchFamily="34" charset="0"/>
                <a:ea typeface="Aptos" panose="020B0004020202020204" pitchFamily="34" charset="0"/>
                <a:cs typeface="Times New Roman" panose="02020603050405020304" pitchFamily="18" charset="0"/>
              </a:rPr>
              <a:t> development.</a:t>
            </a:r>
            <a:br>
              <a:rPr lang="en-US" sz="1800" dirty="0">
                <a:effectLst/>
                <a:latin typeface="Aptos" panose="020B0004020202020204" pitchFamily="34" charset="0"/>
                <a:ea typeface="Aptos" panose="020B0004020202020204" pitchFamily="34" charset="0"/>
                <a:cs typeface="Times New Roman" panose="02020603050405020304" pitchFamily="18" charset="0"/>
              </a:rPr>
            </a:br>
            <a:endParaRPr lang="hu-HU" dirty="0"/>
          </a:p>
        </p:txBody>
      </p:sp>
      <p:sp>
        <p:nvSpPr>
          <p:cNvPr id="4" name="Dia számának helye 3"/>
          <p:cNvSpPr>
            <a:spLocks noGrp="1"/>
          </p:cNvSpPr>
          <p:nvPr>
            <p:ph type="sldNum" sz="quarter" idx="5"/>
          </p:nvPr>
        </p:nvSpPr>
        <p:spPr/>
        <p:txBody>
          <a:bodyPr/>
          <a:lstStyle/>
          <a:p>
            <a:fld id="{4F79063E-5CA5-47B3-A5C5-6A3DA1A55622}" type="slidenum">
              <a:rPr lang="hu-HU" smtClean="0"/>
              <a:t>9</a:t>
            </a:fld>
            <a:endParaRPr lang="hu-HU"/>
          </a:p>
        </p:txBody>
      </p:sp>
    </p:spTree>
    <p:extLst>
      <p:ext uri="{BB962C8B-B14F-4D97-AF65-F5344CB8AC3E}">
        <p14:creationId xmlns:p14="http://schemas.microsoft.com/office/powerpoint/2010/main" val="38635043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endParaRPr lang="hu-HU" dirty="0"/>
          </a:p>
        </p:txBody>
      </p:sp>
      <p:sp>
        <p:nvSpPr>
          <p:cNvPr id="4" name="Dia számának helye 3"/>
          <p:cNvSpPr>
            <a:spLocks noGrp="1"/>
          </p:cNvSpPr>
          <p:nvPr>
            <p:ph type="sldNum" sz="quarter" idx="5"/>
          </p:nvPr>
        </p:nvSpPr>
        <p:spPr/>
        <p:txBody>
          <a:bodyPr/>
          <a:lstStyle/>
          <a:p>
            <a:fld id="{4F79063E-5CA5-47B3-A5C5-6A3DA1A55622}" type="slidenum">
              <a:rPr lang="hu-HU" smtClean="0"/>
              <a:t>11</a:t>
            </a:fld>
            <a:endParaRPr lang="hu-HU"/>
          </a:p>
        </p:txBody>
      </p:sp>
    </p:spTree>
    <p:extLst>
      <p:ext uri="{BB962C8B-B14F-4D97-AF65-F5344CB8AC3E}">
        <p14:creationId xmlns:p14="http://schemas.microsoft.com/office/powerpoint/2010/main" val="2542324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There would be some improvements if we would have the time and resources, like adding online payment, adding ad support, </a:t>
            </a:r>
            <a:r>
              <a:rPr lang="en-US" sz="1800" dirty="0" err="1">
                <a:effectLst/>
                <a:latin typeface="Aptos" panose="020B0004020202020204" pitchFamily="34" charset="0"/>
                <a:ea typeface="Aptos" panose="020B0004020202020204" pitchFamily="34" charset="0"/>
                <a:cs typeface="Times New Roman" panose="02020603050405020304" pitchFamily="18" charset="0"/>
              </a:rPr>
              <a:t>epxanding</a:t>
            </a:r>
            <a:r>
              <a:rPr lang="en-US" sz="1800" dirty="0">
                <a:effectLst/>
                <a:latin typeface="Aptos" panose="020B0004020202020204" pitchFamily="34" charset="0"/>
                <a:ea typeface="Aptos" panose="020B0004020202020204" pitchFamily="34" charset="0"/>
                <a:cs typeface="Times New Roman" panose="02020603050405020304" pitchFamily="18" charset="0"/>
              </a:rPr>
              <a:t> to foreign countries, adding a customer service, and developing a mobile application.</a:t>
            </a:r>
            <a:r>
              <a:rPr lang="hu-HU" dirty="0">
                <a:effectLst/>
              </a:rPr>
              <a:t> </a:t>
            </a:r>
            <a:endParaRPr lang="hu-HU" dirty="0"/>
          </a:p>
        </p:txBody>
      </p:sp>
      <p:sp>
        <p:nvSpPr>
          <p:cNvPr id="4" name="Dia számának helye 3"/>
          <p:cNvSpPr>
            <a:spLocks noGrp="1"/>
          </p:cNvSpPr>
          <p:nvPr>
            <p:ph type="sldNum" sz="quarter" idx="5"/>
          </p:nvPr>
        </p:nvSpPr>
        <p:spPr/>
        <p:txBody>
          <a:bodyPr/>
          <a:lstStyle/>
          <a:p>
            <a:fld id="{4F79063E-5CA5-47B3-A5C5-6A3DA1A55622}" type="slidenum">
              <a:rPr lang="hu-HU" smtClean="0"/>
              <a:t>12</a:t>
            </a:fld>
            <a:endParaRPr lang="hu-HU"/>
          </a:p>
        </p:txBody>
      </p:sp>
    </p:spTree>
    <p:extLst>
      <p:ext uri="{BB962C8B-B14F-4D97-AF65-F5344CB8AC3E}">
        <p14:creationId xmlns:p14="http://schemas.microsoft.com/office/powerpoint/2010/main" val="31153237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We are very happy on how this has turned out, there are some things which we </a:t>
            </a:r>
            <a:r>
              <a:rPr lang="en-US" sz="1800" dirty="0" err="1">
                <a:effectLst/>
                <a:latin typeface="Aptos" panose="020B0004020202020204" pitchFamily="34" charset="0"/>
                <a:ea typeface="Aptos" panose="020B0004020202020204" pitchFamily="34" charset="0"/>
                <a:cs typeface="Times New Roman" panose="02020603050405020304" pitchFamily="18" charset="0"/>
              </a:rPr>
              <a:t>couldnt</a:t>
            </a:r>
            <a:r>
              <a:rPr lang="en-US" sz="1800" dirty="0">
                <a:effectLst/>
                <a:latin typeface="Aptos" panose="020B0004020202020204" pitchFamily="34" charset="0"/>
                <a:ea typeface="Aptos" panose="020B0004020202020204" pitchFamily="34" charset="0"/>
                <a:cs typeface="Times New Roman" panose="02020603050405020304" pitchFamily="18" charset="0"/>
              </a:rPr>
              <a:t> really finish due to the limited time we had, but overall, everything that we imagined is implemented, and is (mostly) working!</a:t>
            </a:r>
            <a:r>
              <a:rPr lang="hu-HU" dirty="0">
                <a:effectLst/>
              </a:rPr>
              <a:t> </a:t>
            </a:r>
            <a:endParaRPr lang="hu-HU" dirty="0"/>
          </a:p>
        </p:txBody>
      </p:sp>
      <p:sp>
        <p:nvSpPr>
          <p:cNvPr id="4" name="Dia számának helye 3"/>
          <p:cNvSpPr>
            <a:spLocks noGrp="1"/>
          </p:cNvSpPr>
          <p:nvPr>
            <p:ph type="sldNum" sz="quarter" idx="5"/>
          </p:nvPr>
        </p:nvSpPr>
        <p:spPr/>
        <p:txBody>
          <a:bodyPr/>
          <a:lstStyle/>
          <a:p>
            <a:fld id="{4F79063E-5CA5-47B3-A5C5-6A3DA1A55622}" type="slidenum">
              <a:rPr lang="hu-HU" smtClean="0"/>
              <a:t>13</a:t>
            </a:fld>
            <a:endParaRPr lang="hu-HU"/>
          </a:p>
        </p:txBody>
      </p:sp>
    </p:spTree>
    <p:extLst>
      <p:ext uri="{BB962C8B-B14F-4D97-AF65-F5344CB8AC3E}">
        <p14:creationId xmlns:p14="http://schemas.microsoft.com/office/powerpoint/2010/main" val="6593063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We would like to thank everybody today for listening to our presentation, we really hope you liked the project that we have been working on! If there are any questions, feel free to ask them, and have a great day!</a:t>
            </a:r>
            <a:r>
              <a:rPr lang="hu-HU" dirty="0">
                <a:effectLst/>
              </a:rPr>
              <a:t> </a:t>
            </a:r>
            <a:endParaRPr lang="hu-HU" dirty="0"/>
          </a:p>
        </p:txBody>
      </p:sp>
      <p:sp>
        <p:nvSpPr>
          <p:cNvPr id="4" name="Dia számának helye 3"/>
          <p:cNvSpPr>
            <a:spLocks noGrp="1"/>
          </p:cNvSpPr>
          <p:nvPr>
            <p:ph type="sldNum" sz="quarter" idx="5"/>
          </p:nvPr>
        </p:nvSpPr>
        <p:spPr/>
        <p:txBody>
          <a:bodyPr/>
          <a:lstStyle/>
          <a:p>
            <a:fld id="{4F79063E-5CA5-47B3-A5C5-6A3DA1A55622}" type="slidenum">
              <a:rPr lang="hu-HU" smtClean="0"/>
              <a:t>14</a:t>
            </a:fld>
            <a:endParaRPr lang="hu-HU"/>
          </a:p>
        </p:txBody>
      </p:sp>
    </p:spTree>
    <p:extLst>
      <p:ext uri="{BB962C8B-B14F-4D97-AF65-F5344CB8AC3E}">
        <p14:creationId xmlns:p14="http://schemas.microsoft.com/office/powerpoint/2010/main" val="4276416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15A05668-A5B0-34AC-23ED-DD9AC1E5874F}"/>
              </a:ext>
            </a:extLst>
          </p:cNvPr>
          <p:cNvSpPr>
            <a:spLocks noGrp="1"/>
          </p:cNvSpPr>
          <p:nvPr>
            <p:ph type="ctrTitle"/>
          </p:nvPr>
        </p:nvSpPr>
        <p:spPr>
          <a:xfrm>
            <a:off x="1524000" y="1122363"/>
            <a:ext cx="9144000" cy="2387600"/>
          </a:xfrm>
        </p:spPr>
        <p:txBody>
          <a:bodyPr anchor="b"/>
          <a:lstStyle>
            <a:lvl1pPr algn="ctr">
              <a:defRPr sz="6000"/>
            </a:lvl1pPr>
          </a:lstStyle>
          <a:p>
            <a:r>
              <a:rPr lang="hu-HU"/>
              <a:t>Mintacím szerkesztése</a:t>
            </a:r>
          </a:p>
        </p:txBody>
      </p:sp>
      <p:sp>
        <p:nvSpPr>
          <p:cNvPr id="3" name="Alcím 2">
            <a:extLst>
              <a:ext uri="{FF2B5EF4-FFF2-40B4-BE49-F238E27FC236}">
                <a16:creationId xmlns:a16="http://schemas.microsoft.com/office/drawing/2014/main" id="{5759B6B3-F6C4-3B4F-E825-5EB938D073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u-HU"/>
              <a:t>Kattintson ide az alcím mintájának szerkesztéséhez</a:t>
            </a:r>
          </a:p>
        </p:txBody>
      </p:sp>
      <p:sp>
        <p:nvSpPr>
          <p:cNvPr id="4" name="Dátum helye 3">
            <a:extLst>
              <a:ext uri="{FF2B5EF4-FFF2-40B4-BE49-F238E27FC236}">
                <a16:creationId xmlns:a16="http://schemas.microsoft.com/office/drawing/2014/main" id="{5389C420-A7CF-DC5F-E139-4A5CE7E4AF69}"/>
              </a:ext>
            </a:extLst>
          </p:cNvPr>
          <p:cNvSpPr>
            <a:spLocks noGrp="1"/>
          </p:cNvSpPr>
          <p:nvPr>
            <p:ph type="dt" sz="half" idx="10"/>
          </p:nvPr>
        </p:nvSpPr>
        <p:spPr/>
        <p:txBody>
          <a:bodyPr/>
          <a:lstStyle/>
          <a:p>
            <a:fld id="{53B40ADC-99B2-4DD3-8634-0CBB6F8BB3CB}" type="datetimeFigureOut">
              <a:rPr lang="hu-HU" smtClean="0"/>
              <a:t>2025. 04. 29.</a:t>
            </a:fld>
            <a:endParaRPr lang="hu-HU"/>
          </a:p>
        </p:txBody>
      </p:sp>
      <p:sp>
        <p:nvSpPr>
          <p:cNvPr id="5" name="Élőláb helye 4">
            <a:extLst>
              <a:ext uri="{FF2B5EF4-FFF2-40B4-BE49-F238E27FC236}">
                <a16:creationId xmlns:a16="http://schemas.microsoft.com/office/drawing/2014/main" id="{87761334-C751-B2FB-2AF7-DC93DF939259}"/>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D0042C32-29C2-6581-E9DE-25D01BE5B70D}"/>
              </a:ext>
            </a:extLst>
          </p:cNvPr>
          <p:cNvSpPr>
            <a:spLocks noGrp="1"/>
          </p:cNvSpPr>
          <p:nvPr>
            <p:ph type="sldNum" sz="quarter" idx="12"/>
          </p:nvPr>
        </p:nvSpPr>
        <p:spPr/>
        <p:txBody>
          <a:bodyPr/>
          <a:lstStyle/>
          <a:p>
            <a:fld id="{535D8289-FC68-40A7-8CDD-6492A22D990B}" type="slidenum">
              <a:rPr lang="hu-HU" smtClean="0"/>
              <a:t>‹#›</a:t>
            </a:fld>
            <a:endParaRPr lang="hu-HU"/>
          </a:p>
        </p:txBody>
      </p:sp>
    </p:spTree>
    <p:extLst>
      <p:ext uri="{BB962C8B-B14F-4D97-AF65-F5344CB8AC3E}">
        <p14:creationId xmlns:p14="http://schemas.microsoft.com/office/powerpoint/2010/main" val="885776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AACCDE44-5AFC-AD18-8C72-C2806CFA48E2}"/>
              </a:ext>
            </a:extLst>
          </p:cNvPr>
          <p:cNvSpPr>
            <a:spLocks noGrp="1"/>
          </p:cNvSpPr>
          <p:nvPr>
            <p:ph type="title"/>
          </p:nvPr>
        </p:nvSpPr>
        <p:spPr/>
        <p:txBody>
          <a:bodyPr/>
          <a:lstStyle/>
          <a:p>
            <a:r>
              <a:rPr lang="hu-HU"/>
              <a:t>Mintacím szerkesztése</a:t>
            </a:r>
          </a:p>
        </p:txBody>
      </p:sp>
      <p:sp>
        <p:nvSpPr>
          <p:cNvPr id="3" name="Tartalom helye 2">
            <a:extLst>
              <a:ext uri="{FF2B5EF4-FFF2-40B4-BE49-F238E27FC236}">
                <a16:creationId xmlns:a16="http://schemas.microsoft.com/office/drawing/2014/main" id="{5E1F4DD2-35E9-2004-C300-BA67B834ADFE}"/>
              </a:ext>
            </a:extLst>
          </p:cNvPr>
          <p:cNvSpPr>
            <a:spLocks noGrp="1"/>
          </p:cNvSpPr>
          <p:nvPr>
            <p:ph idx="1"/>
          </p:nvPr>
        </p:nvSpPr>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a:extLst>
              <a:ext uri="{FF2B5EF4-FFF2-40B4-BE49-F238E27FC236}">
                <a16:creationId xmlns:a16="http://schemas.microsoft.com/office/drawing/2014/main" id="{B61DBE6C-1430-485E-DE8A-C42E2F5CC25A}"/>
              </a:ext>
            </a:extLst>
          </p:cNvPr>
          <p:cNvSpPr>
            <a:spLocks noGrp="1"/>
          </p:cNvSpPr>
          <p:nvPr>
            <p:ph type="dt" sz="half" idx="10"/>
          </p:nvPr>
        </p:nvSpPr>
        <p:spPr/>
        <p:txBody>
          <a:bodyPr/>
          <a:lstStyle/>
          <a:p>
            <a:fld id="{53B40ADC-99B2-4DD3-8634-0CBB6F8BB3CB}" type="datetimeFigureOut">
              <a:rPr lang="hu-HU" smtClean="0"/>
              <a:t>2025. 04. 29.</a:t>
            </a:fld>
            <a:endParaRPr lang="hu-HU"/>
          </a:p>
        </p:txBody>
      </p:sp>
      <p:sp>
        <p:nvSpPr>
          <p:cNvPr id="5" name="Élőláb helye 4">
            <a:extLst>
              <a:ext uri="{FF2B5EF4-FFF2-40B4-BE49-F238E27FC236}">
                <a16:creationId xmlns:a16="http://schemas.microsoft.com/office/drawing/2014/main" id="{87B4443E-AD40-B53C-DDEE-16D89132F0C2}"/>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83079B4A-4F7C-3858-39A2-594783BAF83C}"/>
              </a:ext>
            </a:extLst>
          </p:cNvPr>
          <p:cNvSpPr>
            <a:spLocks noGrp="1"/>
          </p:cNvSpPr>
          <p:nvPr>
            <p:ph type="sldNum" sz="quarter" idx="12"/>
          </p:nvPr>
        </p:nvSpPr>
        <p:spPr/>
        <p:txBody>
          <a:bodyPr/>
          <a:lstStyle/>
          <a:p>
            <a:fld id="{535D8289-FC68-40A7-8CDD-6492A22D990B}" type="slidenum">
              <a:rPr lang="hu-HU" smtClean="0"/>
              <a:t>‹#›</a:t>
            </a:fld>
            <a:endParaRPr lang="hu-HU"/>
          </a:p>
        </p:txBody>
      </p:sp>
    </p:spTree>
    <p:extLst>
      <p:ext uri="{BB962C8B-B14F-4D97-AF65-F5344CB8AC3E}">
        <p14:creationId xmlns:p14="http://schemas.microsoft.com/office/powerpoint/2010/main" val="2075555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810AE69-4ED0-E3F4-0648-B100F2D64D6A}"/>
              </a:ext>
            </a:extLst>
          </p:cNvPr>
          <p:cNvSpPr>
            <a:spLocks noGrp="1"/>
          </p:cNvSpPr>
          <p:nvPr>
            <p:ph type="title"/>
          </p:nvPr>
        </p:nvSpPr>
        <p:spPr>
          <a:xfrm>
            <a:off x="831850" y="1709738"/>
            <a:ext cx="10515600" cy="2852737"/>
          </a:xfrm>
        </p:spPr>
        <p:txBody>
          <a:bodyPr anchor="b"/>
          <a:lstStyle>
            <a:lvl1pPr>
              <a:defRPr sz="6000"/>
            </a:lvl1pPr>
          </a:lstStyle>
          <a:p>
            <a:r>
              <a:rPr lang="hu-HU"/>
              <a:t>Mintacím szerkesztése</a:t>
            </a:r>
          </a:p>
        </p:txBody>
      </p:sp>
      <p:sp>
        <p:nvSpPr>
          <p:cNvPr id="3" name="Szöveg helye 2">
            <a:extLst>
              <a:ext uri="{FF2B5EF4-FFF2-40B4-BE49-F238E27FC236}">
                <a16:creationId xmlns:a16="http://schemas.microsoft.com/office/drawing/2014/main" id="{F885D7EB-0452-BC74-D16E-B3ACE6E1DC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u-HU"/>
              <a:t>Mintaszöveg szerkesztése</a:t>
            </a:r>
          </a:p>
        </p:txBody>
      </p:sp>
      <p:sp>
        <p:nvSpPr>
          <p:cNvPr id="4" name="Dátum helye 3">
            <a:extLst>
              <a:ext uri="{FF2B5EF4-FFF2-40B4-BE49-F238E27FC236}">
                <a16:creationId xmlns:a16="http://schemas.microsoft.com/office/drawing/2014/main" id="{41ED10DE-90BF-B5CB-2240-6DF820FE9596}"/>
              </a:ext>
            </a:extLst>
          </p:cNvPr>
          <p:cNvSpPr>
            <a:spLocks noGrp="1"/>
          </p:cNvSpPr>
          <p:nvPr>
            <p:ph type="dt" sz="half" idx="10"/>
          </p:nvPr>
        </p:nvSpPr>
        <p:spPr/>
        <p:txBody>
          <a:bodyPr/>
          <a:lstStyle/>
          <a:p>
            <a:fld id="{53B40ADC-99B2-4DD3-8634-0CBB6F8BB3CB}" type="datetimeFigureOut">
              <a:rPr lang="hu-HU" smtClean="0"/>
              <a:t>2025. 04. 29.</a:t>
            </a:fld>
            <a:endParaRPr lang="hu-HU"/>
          </a:p>
        </p:txBody>
      </p:sp>
      <p:sp>
        <p:nvSpPr>
          <p:cNvPr id="5" name="Élőláb helye 4">
            <a:extLst>
              <a:ext uri="{FF2B5EF4-FFF2-40B4-BE49-F238E27FC236}">
                <a16:creationId xmlns:a16="http://schemas.microsoft.com/office/drawing/2014/main" id="{983CF987-7277-0273-64EB-CB3E344AE299}"/>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84887220-FA5C-ABFD-A531-2D92B4BAB337}"/>
              </a:ext>
            </a:extLst>
          </p:cNvPr>
          <p:cNvSpPr>
            <a:spLocks noGrp="1"/>
          </p:cNvSpPr>
          <p:nvPr>
            <p:ph type="sldNum" sz="quarter" idx="12"/>
          </p:nvPr>
        </p:nvSpPr>
        <p:spPr/>
        <p:txBody>
          <a:bodyPr/>
          <a:lstStyle/>
          <a:p>
            <a:fld id="{535D8289-FC68-40A7-8CDD-6492A22D990B}" type="slidenum">
              <a:rPr lang="hu-HU" smtClean="0"/>
              <a:t>‹#›</a:t>
            </a:fld>
            <a:endParaRPr lang="hu-HU"/>
          </a:p>
        </p:txBody>
      </p:sp>
    </p:spTree>
    <p:extLst>
      <p:ext uri="{BB962C8B-B14F-4D97-AF65-F5344CB8AC3E}">
        <p14:creationId xmlns:p14="http://schemas.microsoft.com/office/powerpoint/2010/main" val="137827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A71D665-1847-A524-2103-FD65E2033C06}"/>
              </a:ext>
            </a:extLst>
          </p:cNvPr>
          <p:cNvSpPr>
            <a:spLocks noGrp="1"/>
          </p:cNvSpPr>
          <p:nvPr>
            <p:ph type="title"/>
          </p:nvPr>
        </p:nvSpPr>
        <p:spPr/>
        <p:txBody>
          <a:bodyPr/>
          <a:lstStyle/>
          <a:p>
            <a:r>
              <a:rPr lang="hu-HU"/>
              <a:t>Mintacím szerkesztése</a:t>
            </a:r>
          </a:p>
        </p:txBody>
      </p:sp>
      <p:sp>
        <p:nvSpPr>
          <p:cNvPr id="3" name="Tartalom helye 2">
            <a:extLst>
              <a:ext uri="{FF2B5EF4-FFF2-40B4-BE49-F238E27FC236}">
                <a16:creationId xmlns:a16="http://schemas.microsoft.com/office/drawing/2014/main" id="{288F7EB9-A5D4-4BC5-E5D5-2640CA61D921}"/>
              </a:ext>
            </a:extLst>
          </p:cNvPr>
          <p:cNvSpPr>
            <a:spLocks noGrp="1"/>
          </p:cNvSpPr>
          <p:nvPr>
            <p:ph sz="half" idx="1"/>
          </p:nvPr>
        </p:nvSpPr>
        <p:spPr>
          <a:xfrm>
            <a:off x="838200" y="1825625"/>
            <a:ext cx="5181600" cy="435133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Tartalom helye 3">
            <a:extLst>
              <a:ext uri="{FF2B5EF4-FFF2-40B4-BE49-F238E27FC236}">
                <a16:creationId xmlns:a16="http://schemas.microsoft.com/office/drawing/2014/main" id="{572136D8-31AC-347E-5194-6F3DBE6151BA}"/>
              </a:ext>
            </a:extLst>
          </p:cNvPr>
          <p:cNvSpPr>
            <a:spLocks noGrp="1"/>
          </p:cNvSpPr>
          <p:nvPr>
            <p:ph sz="half" idx="2"/>
          </p:nvPr>
        </p:nvSpPr>
        <p:spPr>
          <a:xfrm>
            <a:off x="6172200" y="1825625"/>
            <a:ext cx="5181600" cy="435133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5" name="Dátum helye 4">
            <a:extLst>
              <a:ext uri="{FF2B5EF4-FFF2-40B4-BE49-F238E27FC236}">
                <a16:creationId xmlns:a16="http://schemas.microsoft.com/office/drawing/2014/main" id="{6E646224-C26F-A4DD-298E-A4CCD4AF733D}"/>
              </a:ext>
            </a:extLst>
          </p:cNvPr>
          <p:cNvSpPr>
            <a:spLocks noGrp="1"/>
          </p:cNvSpPr>
          <p:nvPr>
            <p:ph type="dt" sz="half" idx="10"/>
          </p:nvPr>
        </p:nvSpPr>
        <p:spPr/>
        <p:txBody>
          <a:bodyPr/>
          <a:lstStyle/>
          <a:p>
            <a:fld id="{53B40ADC-99B2-4DD3-8634-0CBB6F8BB3CB}" type="datetimeFigureOut">
              <a:rPr lang="hu-HU" smtClean="0"/>
              <a:t>2025. 04. 29.</a:t>
            </a:fld>
            <a:endParaRPr lang="hu-HU"/>
          </a:p>
        </p:txBody>
      </p:sp>
      <p:sp>
        <p:nvSpPr>
          <p:cNvPr id="6" name="Élőláb helye 5">
            <a:extLst>
              <a:ext uri="{FF2B5EF4-FFF2-40B4-BE49-F238E27FC236}">
                <a16:creationId xmlns:a16="http://schemas.microsoft.com/office/drawing/2014/main" id="{F850EC33-35C9-6CD4-2B71-E269D4B21690}"/>
              </a:ext>
            </a:extLst>
          </p:cNvPr>
          <p:cNvSpPr>
            <a:spLocks noGrp="1"/>
          </p:cNvSpPr>
          <p:nvPr>
            <p:ph type="ftr" sz="quarter" idx="11"/>
          </p:nvPr>
        </p:nvSpPr>
        <p:spPr/>
        <p:txBody>
          <a:bodyPr/>
          <a:lstStyle/>
          <a:p>
            <a:endParaRPr lang="hu-HU"/>
          </a:p>
        </p:txBody>
      </p:sp>
      <p:sp>
        <p:nvSpPr>
          <p:cNvPr id="7" name="Dia számának helye 6">
            <a:extLst>
              <a:ext uri="{FF2B5EF4-FFF2-40B4-BE49-F238E27FC236}">
                <a16:creationId xmlns:a16="http://schemas.microsoft.com/office/drawing/2014/main" id="{7DBF5015-A9EB-2261-338C-855BBDEE1F45}"/>
              </a:ext>
            </a:extLst>
          </p:cNvPr>
          <p:cNvSpPr>
            <a:spLocks noGrp="1"/>
          </p:cNvSpPr>
          <p:nvPr>
            <p:ph type="sldNum" sz="quarter" idx="12"/>
          </p:nvPr>
        </p:nvSpPr>
        <p:spPr/>
        <p:txBody>
          <a:bodyPr/>
          <a:lstStyle/>
          <a:p>
            <a:fld id="{535D8289-FC68-40A7-8CDD-6492A22D990B}" type="slidenum">
              <a:rPr lang="hu-HU" smtClean="0"/>
              <a:t>‹#›</a:t>
            </a:fld>
            <a:endParaRPr lang="hu-HU"/>
          </a:p>
        </p:txBody>
      </p:sp>
    </p:spTree>
    <p:extLst>
      <p:ext uri="{BB962C8B-B14F-4D97-AF65-F5344CB8AC3E}">
        <p14:creationId xmlns:p14="http://schemas.microsoft.com/office/powerpoint/2010/main" val="3241404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E0D1033-B975-6744-AEAD-8E443D0D6655}"/>
              </a:ext>
            </a:extLst>
          </p:cNvPr>
          <p:cNvSpPr>
            <a:spLocks noGrp="1"/>
          </p:cNvSpPr>
          <p:nvPr>
            <p:ph type="title"/>
          </p:nvPr>
        </p:nvSpPr>
        <p:spPr>
          <a:xfrm>
            <a:off x="839788" y="365125"/>
            <a:ext cx="10515600" cy="1325563"/>
          </a:xfrm>
        </p:spPr>
        <p:txBody>
          <a:bodyPr/>
          <a:lstStyle/>
          <a:p>
            <a:r>
              <a:rPr lang="hu-HU"/>
              <a:t>Mintacím szerkesztése</a:t>
            </a:r>
          </a:p>
        </p:txBody>
      </p:sp>
      <p:sp>
        <p:nvSpPr>
          <p:cNvPr id="3" name="Szöveg helye 2">
            <a:extLst>
              <a:ext uri="{FF2B5EF4-FFF2-40B4-BE49-F238E27FC236}">
                <a16:creationId xmlns:a16="http://schemas.microsoft.com/office/drawing/2014/main" id="{988C8BAC-C1AA-319C-4A3A-F65A4DDE33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4" name="Tartalom helye 3">
            <a:extLst>
              <a:ext uri="{FF2B5EF4-FFF2-40B4-BE49-F238E27FC236}">
                <a16:creationId xmlns:a16="http://schemas.microsoft.com/office/drawing/2014/main" id="{4BBE315B-17F0-76C9-4CD4-58D5CEA09CD8}"/>
              </a:ext>
            </a:extLst>
          </p:cNvPr>
          <p:cNvSpPr>
            <a:spLocks noGrp="1"/>
          </p:cNvSpPr>
          <p:nvPr>
            <p:ph sz="half" idx="2"/>
          </p:nvPr>
        </p:nvSpPr>
        <p:spPr>
          <a:xfrm>
            <a:off x="839788" y="2505075"/>
            <a:ext cx="5157787" cy="368458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5" name="Szöveg helye 4">
            <a:extLst>
              <a:ext uri="{FF2B5EF4-FFF2-40B4-BE49-F238E27FC236}">
                <a16:creationId xmlns:a16="http://schemas.microsoft.com/office/drawing/2014/main" id="{AF03F3CF-0DFC-C90C-40A2-254C141108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6" name="Tartalom helye 5">
            <a:extLst>
              <a:ext uri="{FF2B5EF4-FFF2-40B4-BE49-F238E27FC236}">
                <a16:creationId xmlns:a16="http://schemas.microsoft.com/office/drawing/2014/main" id="{A389F990-62C3-2EF4-1D06-CD29776DEB85}"/>
              </a:ext>
            </a:extLst>
          </p:cNvPr>
          <p:cNvSpPr>
            <a:spLocks noGrp="1"/>
          </p:cNvSpPr>
          <p:nvPr>
            <p:ph sz="quarter" idx="4"/>
          </p:nvPr>
        </p:nvSpPr>
        <p:spPr>
          <a:xfrm>
            <a:off x="6172200" y="2505075"/>
            <a:ext cx="5183188" cy="368458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7" name="Dátum helye 6">
            <a:extLst>
              <a:ext uri="{FF2B5EF4-FFF2-40B4-BE49-F238E27FC236}">
                <a16:creationId xmlns:a16="http://schemas.microsoft.com/office/drawing/2014/main" id="{11FBB682-32D1-8C7A-862C-2B218C5764C1}"/>
              </a:ext>
            </a:extLst>
          </p:cNvPr>
          <p:cNvSpPr>
            <a:spLocks noGrp="1"/>
          </p:cNvSpPr>
          <p:nvPr>
            <p:ph type="dt" sz="half" idx="10"/>
          </p:nvPr>
        </p:nvSpPr>
        <p:spPr/>
        <p:txBody>
          <a:bodyPr/>
          <a:lstStyle/>
          <a:p>
            <a:fld id="{53B40ADC-99B2-4DD3-8634-0CBB6F8BB3CB}" type="datetimeFigureOut">
              <a:rPr lang="hu-HU" smtClean="0"/>
              <a:t>2025. 04. 29.</a:t>
            </a:fld>
            <a:endParaRPr lang="hu-HU"/>
          </a:p>
        </p:txBody>
      </p:sp>
      <p:sp>
        <p:nvSpPr>
          <p:cNvPr id="8" name="Élőláb helye 7">
            <a:extLst>
              <a:ext uri="{FF2B5EF4-FFF2-40B4-BE49-F238E27FC236}">
                <a16:creationId xmlns:a16="http://schemas.microsoft.com/office/drawing/2014/main" id="{ACC93CA1-D9D4-6B30-FF87-10E43EBFD732}"/>
              </a:ext>
            </a:extLst>
          </p:cNvPr>
          <p:cNvSpPr>
            <a:spLocks noGrp="1"/>
          </p:cNvSpPr>
          <p:nvPr>
            <p:ph type="ftr" sz="quarter" idx="11"/>
          </p:nvPr>
        </p:nvSpPr>
        <p:spPr/>
        <p:txBody>
          <a:bodyPr/>
          <a:lstStyle/>
          <a:p>
            <a:endParaRPr lang="hu-HU"/>
          </a:p>
        </p:txBody>
      </p:sp>
      <p:sp>
        <p:nvSpPr>
          <p:cNvPr id="9" name="Dia számának helye 8">
            <a:extLst>
              <a:ext uri="{FF2B5EF4-FFF2-40B4-BE49-F238E27FC236}">
                <a16:creationId xmlns:a16="http://schemas.microsoft.com/office/drawing/2014/main" id="{027840E6-1681-074A-DD41-A6F2DC50CB73}"/>
              </a:ext>
            </a:extLst>
          </p:cNvPr>
          <p:cNvSpPr>
            <a:spLocks noGrp="1"/>
          </p:cNvSpPr>
          <p:nvPr>
            <p:ph type="sldNum" sz="quarter" idx="12"/>
          </p:nvPr>
        </p:nvSpPr>
        <p:spPr/>
        <p:txBody>
          <a:bodyPr/>
          <a:lstStyle/>
          <a:p>
            <a:fld id="{535D8289-FC68-40A7-8CDD-6492A22D990B}" type="slidenum">
              <a:rPr lang="hu-HU" smtClean="0"/>
              <a:t>‹#›</a:t>
            </a:fld>
            <a:endParaRPr lang="hu-HU"/>
          </a:p>
        </p:txBody>
      </p:sp>
    </p:spTree>
    <p:extLst>
      <p:ext uri="{BB962C8B-B14F-4D97-AF65-F5344CB8AC3E}">
        <p14:creationId xmlns:p14="http://schemas.microsoft.com/office/powerpoint/2010/main" val="1497237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95AAF05D-04A4-6D0C-10E0-13F141195EB3}"/>
              </a:ext>
            </a:extLst>
          </p:cNvPr>
          <p:cNvSpPr>
            <a:spLocks noGrp="1"/>
          </p:cNvSpPr>
          <p:nvPr>
            <p:ph type="title"/>
          </p:nvPr>
        </p:nvSpPr>
        <p:spPr/>
        <p:txBody>
          <a:bodyPr/>
          <a:lstStyle/>
          <a:p>
            <a:r>
              <a:rPr lang="hu-HU"/>
              <a:t>Mintacím szerkesztése</a:t>
            </a:r>
          </a:p>
        </p:txBody>
      </p:sp>
      <p:sp>
        <p:nvSpPr>
          <p:cNvPr id="3" name="Dátum helye 2">
            <a:extLst>
              <a:ext uri="{FF2B5EF4-FFF2-40B4-BE49-F238E27FC236}">
                <a16:creationId xmlns:a16="http://schemas.microsoft.com/office/drawing/2014/main" id="{4E0A2941-0970-4A24-B86F-984C2D652806}"/>
              </a:ext>
            </a:extLst>
          </p:cNvPr>
          <p:cNvSpPr>
            <a:spLocks noGrp="1"/>
          </p:cNvSpPr>
          <p:nvPr>
            <p:ph type="dt" sz="half" idx="10"/>
          </p:nvPr>
        </p:nvSpPr>
        <p:spPr/>
        <p:txBody>
          <a:bodyPr/>
          <a:lstStyle/>
          <a:p>
            <a:fld id="{53B40ADC-99B2-4DD3-8634-0CBB6F8BB3CB}" type="datetimeFigureOut">
              <a:rPr lang="hu-HU" smtClean="0"/>
              <a:t>2025. 04. 29.</a:t>
            </a:fld>
            <a:endParaRPr lang="hu-HU"/>
          </a:p>
        </p:txBody>
      </p:sp>
      <p:sp>
        <p:nvSpPr>
          <p:cNvPr id="4" name="Élőláb helye 3">
            <a:extLst>
              <a:ext uri="{FF2B5EF4-FFF2-40B4-BE49-F238E27FC236}">
                <a16:creationId xmlns:a16="http://schemas.microsoft.com/office/drawing/2014/main" id="{6D9E138E-F499-A078-42F4-60589EFAFB9A}"/>
              </a:ext>
            </a:extLst>
          </p:cNvPr>
          <p:cNvSpPr>
            <a:spLocks noGrp="1"/>
          </p:cNvSpPr>
          <p:nvPr>
            <p:ph type="ftr" sz="quarter" idx="11"/>
          </p:nvPr>
        </p:nvSpPr>
        <p:spPr/>
        <p:txBody>
          <a:bodyPr/>
          <a:lstStyle/>
          <a:p>
            <a:endParaRPr lang="hu-HU"/>
          </a:p>
        </p:txBody>
      </p:sp>
      <p:sp>
        <p:nvSpPr>
          <p:cNvPr id="5" name="Dia számának helye 4">
            <a:extLst>
              <a:ext uri="{FF2B5EF4-FFF2-40B4-BE49-F238E27FC236}">
                <a16:creationId xmlns:a16="http://schemas.microsoft.com/office/drawing/2014/main" id="{E0F9F401-D9FC-8C3F-D691-72D6BC8A3FF5}"/>
              </a:ext>
            </a:extLst>
          </p:cNvPr>
          <p:cNvSpPr>
            <a:spLocks noGrp="1"/>
          </p:cNvSpPr>
          <p:nvPr>
            <p:ph type="sldNum" sz="quarter" idx="12"/>
          </p:nvPr>
        </p:nvSpPr>
        <p:spPr/>
        <p:txBody>
          <a:bodyPr/>
          <a:lstStyle/>
          <a:p>
            <a:fld id="{535D8289-FC68-40A7-8CDD-6492A22D990B}" type="slidenum">
              <a:rPr lang="hu-HU" smtClean="0"/>
              <a:t>‹#›</a:t>
            </a:fld>
            <a:endParaRPr lang="hu-HU"/>
          </a:p>
        </p:txBody>
      </p:sp>
    </p:spTree>
    <p:extLst>
      <p:ext uri="{BB962C8B-B14F-4D97-AF65-F5344CB8AC3E}">
        <p14:creationId xmlns:p14="http://schemas.microsoft.com/office/powerpoint/2010/main" val="2552706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átum helye 1">
            <a:extLst>
              <a:ext uri="{FF2B5EF4-FFF2-40B4-BE49-F238E27FC236}">
                <a16:creationId xmlns:a16="http://schemas.microsoft.com/office/drawing/2014/main" id="{356E75AA-D09F-BF61-A7EF-42AF775EE1E8}"/>
              </a:ext>
            </a:extLst>
          </p:cNvPr>
          <p:cNvSpPr>
            <a:spLocks noGrp="1"/>
          </p:cNvSpPr>
          <p:nvPr>
            <p:ph type="dt" sz="half" idx="10"/>
          </p:nvPr>
        </p:nvSpPr>
        <p:spPr/>
        <p:txBody>
          <a:bodyPr/>
          <a:lstStyle/>
          <a:p>
            <a:fld id="{53B40ADC-99B2-4DD3-8634-0CBB6F8BB3CB}" type="datetimeFigureOut">
              <a:rPr lang="hu-HU" smtClean="0"/>
              <a:t>2025. 04. 29.</a:t>
            </a:fld>
            <a:endParaRPr lang="hu-HU"/>
          </a:p>
        </p:txBody>
      </p:sp>
      <p:sp>
        <p:nvSpPr>
          <p:cNvPr id="3" name="Élőláb helye 2">
            <a:extLst>
              <a:ext uri="{FF2B5EF4-FFF2-40B4-BE49-F238E27FC236}">
                <a16:creationId xmlns:a16="http://schemas.microsoft.com/office/drawing/2014/main" id="{577ED742-788B-840E-AA8F-EC31675042B9}"/>
              </a:ext>
            </a:extLst>
          </p:cNvPr>
          <p:cNvSpPr>
            <a:spLocks noGrp="1"/>
          </p:cNvSpPr>
          <p:nvPr>
            <p:ph type="ftr" sz="quarter" idx="11"/>
          </p:nvPr>
        </p:nvSpPr>
        <p:spPr/>
        <p:txBody>
          <a:bodyPr/>
          <a:lstStyle/>
          <a:p>
            <a:endParaRPr lang="hu-HU"/>
          </a:p>
        </p:txBody>
      </p:sp>
      <p:sp>
        <p:nvSpPr>
          <p:cNvPr id="4" name="Dia számának helye 3">
            <a:extLst>
              <a:ext uri="{FF2B5EF4-FFF2-40B4-BE49-F238E27FC236}">
                <a16:creationId xmlns:a16="http://schemas.microsoft.com/office/drawing/2014/main" id="{E7C91F39-FBBE-6B9D-745B-59C752BE39D3}"/>
              </a:ext>
            </a:extLst>
          </p:cNvPr>
          <p:cNvSpPr>
            <a:spLocks noGrp="1"/>
          </p:cNvSpPr>
          <p:nvPr>
            <p:ph type="sldNum" sz="quarter" idx="12"/>
          </p:nvPr>
        </p:nvSpPr>
        <p:spPr/>
        <p:txBody>
          <a:bodyPr/>
          <a:lstStyle/>
          <a:p>
            <a:fld id="{535D8289-FC68-40A7-8CDD-6492A22D990B}" type="slidenum">
              <a:rPr lang="hu-HU" smtClean="0"/>
              <a:t>‹#›</a:t>
            </a:fld>
            <a:endParaRPr lang="hu-HU"/>
          </a:p>
        </p:txBody>
      </p:sp>
    </p:spTree>
    <p:extLst>
      <p:ext uri="{BB962C8B-B14F-4D97-AF65-F5344CB8AC3E}">
        <p14:creationId xmlns:p14="http://schemas.microsoft.com/office/powerpoint/2010/main" val="253086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A150AB87-511A-0DEB-D6DA-E14EB3F77DFD}"/>
              </a:ext>
            </a:extLst>
          </p:cNvPr>
          <p:cNvSpPr>
            <a:spLocks noGrp="1"/>
          </p:cNvSpPr>
          <p:nvPr>
            <p:ph type="title"/>
          </p:nvPr>
        </p:nvSpPr>
        <p:spPr>
          <a:xfrm>
            <a:off x="839788" y="457200"/>
            <a:ext cx="3932237" cy="1600200"/>
          </a:xfrm>
        </p:spPr>
        <p:txBody>
          <a:bodyPr anchor="b"/>
          <a:lstStyle>
            <a:lvl1pPr>
              <a:defRPr sz="3200"/>
            </a:lvl1pPr>
          </a:lstStyle>
          <a:p>
            <a:r>
              <a:rPr lang="hu-HU"/>
              <a:t>Mintacím szerkesztése</a:t>
            </a:r>
          </a:p>
        </p:txBody>
      </p:sp>
      <p:sp>
        <p:nvSpPr>
          <p:cNvPr id="3" name="Tartalom helye 2">
            <a:extLst>
              <a:ext uri="{FF2B5EF4-FFF2-40B4-BE49-F238E27FC236}">
                <a16:creationId xmlns:a16="http://schemas.microsoft.com/office/drawing/2014/main" id="{0A8AE7C4-30BF-5480-CAF1-9AAF2F9434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Szöveg helye 3">
            <a:extLst>
              <a:ext uri="{FF2B5EF4-FFF2-40B4-BE49-F238E27FC236}">
                <a16:creationId xmlns:a16="http://schemas.microsoft.com/office/drawing/2014/main" id="{36299E75-B9F3-E211-1898-3CA04BDA2A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átum helye 4">
            <a:extLst>
              <a:ext uri="{FF2B5EF4-FFF2-40B4-BE49-F238E27FC236}">
                <a16:creationId xmlns:a16="http://schemas.microsoft.com/office/drawing/2014/main" id="{733F11CB-E9BA-C9BF-B0AF-05EAE4EA24D1}"/>
              </a:ext>
            </a:extLst>
          </p:cNvPr>
          <p:cNvSpPr>
            <a:spLocks noGrp="1"/>
          </p:cNvSpPr>
          <p:nvPr>
            <p:ph type="dt" sz="half" idx="10"/>
          </p:nvPr>
        </p:nvSpPr>
        <p:spPr/>
        <p:txBody>
          <a:bodyPr/>
          <a:lstStyle/>
          <a:p>
            <a:fld id="{53B40ADC-99B2-4DD3-8634-0CBB6F8BB3CB}" type="datetimeFigureOut">
              <a:rPr lang="hu-HU" smtClean="0"/>
              <a:t>2025. 04. 29.</a:t>
            </a:fld>
            <a:endParaRPr lang="hu-HU"/>
          </a:p>
        </p:txBody>
      </p:sp>
      <p:sp>
        <p:nvSpPr>
          <p:cNvPr id="6" name="Élőláb helye 5">
            <a:extLst>
              <a:ext uri="{FF2B5EF4-FFF2-40B4-BE49-F238E27FC236}">
                <a16:creationId xmlns:a16="http://schemas.microsoft.com/office/drawing/2014/main" id="{9EE53E4E-69D1-0CEA-E291-E084469C79A4}"/>
              </a:ext>
            </a:extLst>
          </p:cNvPr>
          <p:cNvSpPr>
            <a:spLocks noGrp="1"/>
          </p:cNvSpPr>
          <p:nvPr>
            <p:ph type="ftr" sz="quarter" idx="11"/>
          </p:nvPr>
        </p:nvSpPr>
        <p:spPr/>
        <p:txBody>
          <a:bodyPr/>
          <a:lstStyle/>
          <a:p>
            <a:endParaRPr lang="hu-HU"/>
          </a:p>
        </p:txBody>
      </p:sp>
      <p:sp>
        <p:nvSpPr>
          <p:cNvPr id="7" name="Dia számának helye 6">
            <a:extLst>
              <a:ext uri="{FF2B5EF4-FFF2-40B4-BE49-F238E27FC236}">
                <a16:creationId xmlns:a16="http://schemas.microsoft.com/office/drawing/2014/main" id="{B1E7AA33-BF7F-8773-DFD7-ECBEFEE01C4A}"/>
              </a:ext>
            </a:extLst>
          </p:cNvPr>
          <p:cNvSpPr>
            <a:spLocks noGrp="1"/>
          </p:cNvSpPr>
          <p:nvPr>
            <p:ph type="sldNum" sz="quarter" idx="12"/>
          </p:nvPr>
        </p:nvSpPr>
        <p:spPr/>
        <p:txBody>
          <a:bodyPr/>
          <a:lstStyle/>
          <a:p>
            <a:fld id="{535D8289-FC68-40A7-8CDD-6492A22D990B}" type="slidenum">
              <a:rPr lang="hu-HU" smtClean="0"/>
              <a:t>‹#›</a:t>
            </a:fld>
            <a:endParaRPr lang="hu-HU"/>
          </a:p>
        </p:txBody>
      </p:sp>
    </p:spTree>
    <p:extLst>
      <p:ext uri="{BB962C8B-B14F-4D97-AF65-F5344CB8AC3E}">
        <p14:creationId xmlns:p14="http://schemas.microsoft.com/office/powerpoint/2010/main" val="244673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FB311E9-6813-6D3A-5B81-3EE478FF602D}"/>
              </a:ext>
            </a:extLst>
          </p:cNvPr>
          <p:cNvSpPr>
            <a:spLocks noGrp="1"/>
          </p:cNvSpPr>
          <p:nvPr>
            <p:ph type="title"/>
          </p:nvPr>
        </p:nvSpPr>
        <p:spPr>
          <a:xfrm>
            <a:off x="839788" y="457200"/>
            <a:ext cx="3932237" cy="1600200"/>
          </a:xfrm>
        </p:spPr>
        <p:txBody>
          <a:bodyPr anchor="b"/>
          <a:lstStyle>
            <a:lvl1pPr>
              <a:defRPr sz="3200"/>
            </a:lvl1pPr>
          </a:lstStyle>
          <a:p>
            <a:r>
              <a:rPr lang="hu-HU"/>
              <a:t>Mintacím szerkesztése</a:t>
            </a:r>
          </a:p>
        </p:txBody>
      </p:sp>
      <p:sp>
        <p:nvSpPr>
          <p:cNvPr id="3" name="Kép helye 2">
            <a:extLst>
              <a:ext uri="{FF2B5EF4-FFF2-40B4-BE49-F238E27FC236}">
                <a16:creationId xmlns:a16="http://schemas.microsoft.com/office/drawing/2014/main" id="{A73BB10F-8339-DC3F-BC3B-6BEC2DA055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a:p>
        </p:txBody>
      </p:sp>
      <p:sp>
        <p:nvSpPr>
          <p:cNvPr id="4" name="Szöveg helye 3">
            <a:extLst>
              <a:ext uri="{FF2B5EF4-FFF2-40B4-BE49-F238E27FC236}">
                <a16:creationId xmlns:a16="http://schemas.microsoft.com/office/drawing/2014/main" id="{5006148E-5250-2DB3-CDC5-A469AF9633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átum helye 4">
            <a:extLst>
              <a:ext uri="{FF2B5EF4-FFF2-40B4-BE49-F238E27FC236}">
                <a16:creationId xmlns:a16="http://schemas.microsoft.com/office/drawing/2014/main" id="{91703AEF-7FC4-3120-BE31-B3B27026145E}"/>
              </a:ext>
            </a:extLst>
          </p:cNvPr>
          <p:cNvSpPr>
            <a:spLocks noGrp="1"/>
          </p:cNvSpPr>
          <p:nvPr>
            <p:ph type="dt" sz="half" idx="10"/>
          </p:nvPr>
        </p:nvSpPr>
        <p:spPr/>
        <p:txBody>
          <a:bodyPr/>
          <a:lstStyle/>
          <a:p>
            <a:fld id="{53B40ADC-99B2-4DD3-8634-0CBB6F8BB3CB}" type="datetimeFigureOut">
              <a:rPr lang="hu-HU" smtClean="0"/>
              <a:t>2025. 04. 29.</a:t>
            </a:fld>
            <a:endParaRPr lang="hu-HU"/>
          </a:p>
        </p:txBody>
      </p:sp>
      <p:sp>
        <p:nvSpPr>
          <p:cNvPr id="6" name="Élőláb helye 5">
            <a:extLst>
              <a:ext uri="{FF2B5EF4-FFF2-40B4-BE49-F238E27FC236}">
                <a16:creationId xmlns:a16="http://schemas.microsoft.com/office/drawing/2014/main" id="{0F531775-E720-75C8-5BBC-9E0C85E2A177}"/>
              </a:ext>
            </a:extLst>
          </p:cNvPr>
          <p:cNvSpPr>
            <a:spLocks noGrp="1"/>
          </p:cNvSpPr>
          <p:nvPr>
            <p:ph type="ftr" sz="quarter" idx="11"/>
          </p:nvPr>
        </p:nvSpPr>
        <p:spPr/>
        <p:txBody>
          <a:bodyPr/>
          <a:lstStyle/>
          <a:p>
            <a:endParaRPr lang="hu-HU"/>
          </a:p>
        </p:txBody>
      </p:sp>
      <p:sp>
        <p:nvSpPr>
          <p:cNvPr id="7" name="Dia számának helye 6">
            <a:extLst>
              <a:ext uri="{FF2B5EF4-FFF2-40B4-BE49-F238E27FC236}">
                <a16:creationId xmlns:a16="http://schemas.microsoft.com/office/drawing/2014/main" id="{105920B2-22EF-3F06-AD46-EEDD2FEAB532}"/>
              </a:ext>
            </a:extLst>
          </p:cNvPr>
          <p:cNvSpPr>
            <a:spLocks noGrp="1"/>
          </p:cNvSpPr>
          <p:nvPr>
            <p:ph type="sldNum" sz="quarter" idx="12"/>
          </p:nvPr>
        </p:nvSpPr>
        <p:spPr/>
        <p:txBody>
          <a:bodyPr/>
          <a:lstStyle/>
          <a:p>
            <a:fld id="{535D8289-FC68-40A7-8CDD-6492A22D990B}" type="slidenum">
              <a:rPr lang="hu-HU" smtClean="0"/>
              <a:t>‹#›</a:t>
            </a:fld>
            <a:endParaRPr lang="hu-HU"/>
          </a:p>
        </p:txBody>
      </p:sp>
    </p:spTree>
    <p:extLst>
      <p:ext uri="{BB962C8B-B14F-4D97-AF65-F5344CB8AC3E}">
        <p14:creationId xmlns:p14="http://schemas.microsoft.com/office/powerpoint/2010/main" val="3831787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45C486C-8450-FB46-50CD-56B8C99DA366}"/>
              </a:ext>
            </a:extLst>
          </p:cNvPr>
          <p:cNvSpPr>
            <a:spLocks noGrp="1"/>
          </p:cNvSpPr>
          <p:nvPr>
            <p:ph type="title"/>
          </p:nvPr>
        </p:nvSpPr>
        <p:spPr/>
        <p:txBody>
          <a:bodyPr/>
          <a:lstStyle/>
          <a:p>
            <a:r>
              <a:rPr lang="hu-HU"/>
              <a:t>Mintacím szerkesztése</a:t>
            </a:r>
          </a:p>
        </p:txBody>
      </p:sp>
      <p:sp>
        <p:nvSpPr>
          <p:cNvPr id="3" name="Függőleges szöveg helye 2">
            <a:extLst>
              <a:ext uri="{FF2B5EF4-FFF2-40B4-BE49-F238E27FC236}">
                <a16:creationId xmlns:a16="http://schemas.microsoft.com/office/drawing/2014/main" id="{25062F09-C64B-9C17-FF20-2B2A4D8733A2}"/>
              </a:ext>
            </a:extLst>
          </p:cNvPr>
          <p:cNvSpPr>
            <a:spLocks noGrp="1"/>
          </p:cNvSpPr>
          <p:nvPr>
            <p:ph type="body" orient="vert" idx="1"/>
          </p:nvPr>
        </p:nvSpPr>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a:extLst>
              <a:ext uri="{FF2B5EF4-FFF2-40B4-BE49-F238E27FC236}">
                <a16:creationId xmlns:a16="http://schemas.microsoft.com/office/drawing/2014/main" id="{0EAAAD74-DD02-C0CF-8BB0-9082C2543298}"/>
              </a:ext>
            </a:extLst>
          </p:cNvPr>
          <p:cNvSpPr>
            <a:spLocks noGrp="1"/>
          </p:cNvSpPr>
          <p:nvPr>
            <p:ph type="dt" sz="half" idx="10"/>
          </p:nvPr>
        </p:nvSpPr>
        <p:spPr/>
        <p:txBody>
          <a:bodyPr/>
          <a:lstStyle/>
          <a:p>
            <a:fld id="{53B40ADC-99B2-4DD3-8634-0CBB6F8BB3CB}" type="datetimeFigureOut">
              <a:rPr lang="hu-HU" smtClean="0"/>
              <a:t>2025. 04. 29.</a:t>
            </a:fld>
            <a:endParaRPr lang="hu-HU"/>
          </a:p>
        </p:txBody>
      </p:sp>
      <p:sp>
        <p:nvSpPr>
          <p:cNvPr id="5" name="Élőláb helye 4">
            <a:extLst>
              <a:ext uri="{FF2B5EF4-FFF2-40B4-BE49-F238E27FC236}">
                <a16:creationId xmlns:a16="http://schemas.microsoft.com/office/drawing/2014/main" id="{6DE7E764-F12F-CDF3-77DF-733694A20B38}"/>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ED89AA96-EE43-6B7C-0E1A-43BD168B9E51}"/>
              </a:ext>
            </a:extLst>
          </p:cNvPr>
          <p:cNvSpPr>
            <a:spLocks noGrp="1"/>
          </p:cNvSpPr>
          <p:nvPr>
            <p:ph type="sldNum" sz="quarter" idx="12"/>
          </p:nvPr>
        </p:nvSpPr>
        <p:spPr/>
        <p:txBody>
          <a:bodyPr/>
          <a:lstStyle/>
          <a:p>
            <a:fld id="{535D8289-FC68-40A7-8CDD-6492A22D990B}" type="slidenum">
              <a:rPr lang="hu-HU" smtClean="0"/>
              <a:t>‹#›</a:t>
            </a:fld>
            <a:endParaRPr lang="hu-HU"/>
          </a:p>
        </p:txBody>
      </p:sp>
    </p:spTree>
    <p:extLst>
      <p:ext uri="{BB962C8B-B14F-4D97-AF65-F5344CB8AC3E}">
        <p14:creationId xmlns:p14="http://schemas.microsoft.com/office/powerpoint/2010/main" val="868228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Függőleges cím 1">
            <a:extLst>
              <a:ext uri="{FF2B5EF4-FFF2-40B4-BE49-F238E27FC236}">
                <a16:creationId xmlns:a16="http://schemas.microsoft.com/office/drawing/2014/main" id="{8C8BE016-8482-9160-C661-17E4FBC2E083}"/>
              </a:ext>
            </a:extLst>
          </p:cNvPr>
          <p:cNvSpPr>
            <a:spLocks noGrp="1"/>
          </p:cNvSpPr>
          <p:nvPr>
            <p:ph type="title" orient="vert"/>
          </p:nvPr>
        </p:nvSpPr>
        <p:spPr>
          <a:xfrm>
            <a:off x="8724900" y="365125"/>
            <a:ext cx="2628900" cy="5811838"/>
          </a:xfrm>
        </p:spPr>
        <p:txBody>
          <a:bodyPr vert="eaVert"/>
          <a:lstStyle/>
          <a:p>
            <a:r>
              <a:rPr lang="hu-HU"/>
              <a:t>Mintacím szerkesztése</a:t>
            </a:r>
          </a:p>
        </p:txBody>
      </p:sp>
      <p:sp>
        <p:nvSpPr>
          <p:cNvPr id="3" name="Függőleges szöveg helye 2">
            <a:extLst>
              <a:ext uri="{FF2B5EF4-FFF2-40B4-BE49-F238E27FC236}">
                <a16:creationId xmlns:a16="http://schemas.microsoft.com/office/drawing/2014/main" id="{AF11392D-78C7-FB44-3A60-A757329F4F2C}"/>
              </a:ext>
            </a:extLst>
          </p:cNvPr>
          <p:cNvSpPr>
            <a:spLocks noGrp="1"/>
          </p:cNvSpPr>
          <p:nvPr>
            <p:ph type="body" orient="vert" idx="1"/>
          </p:nvPr>
        </p:nvSpPr>
        <p:spPr>
          <a:xfrm>
            <a:off x="838200" y="365125"/>
            <a:ext cx="7734300" cy="5811838"/>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a:extLst>
              <a:ext uri="{FF2B5EF4-FFF2-40B4-BE49-F238E27FC236}">
                <a16:creationId xmlns:a16="http://schemas.microsoft.com/office/drawing/2014/main" id="{DE37258A-C83B-0041-36AA-E7A6426CF523}"/>
              </a:ext>
            </a:extLst>
          </p:cNvPr>
          <p:cNvSpPr>
            <a:spLocks noGrp="1"/>
          </p:cNvSpPr>
          <p:nvPr>
            <p:ph type="dt" sz="half" idx="10"/>
          </p:nvPr>
        </p:nvSpPr>
        <p:spPr/>
        <p:txBody>
          <a:bodyPr/>
          <a:lstStyle/>
          <a:p>
            <a:fld id="{53B40ADC-99B2-4DD3-8634-0CBB6F8BB3CB}" type="datetimeFigureOut">
              <a:rPr lang="hu-HU" smtClean="0"/>
              <a:t>2025. 04. 29.</a:t>
            </a:fld>
            <a:endParaRPr lang="hu-HU"/>
          </a:p>
        </p:txBody>
      </p:sp>
      <p:sp>
        <p:nvSpPr>
          <p:cNvPr id="5" name="Élőláb helye 4">
            <a:extLst>
              <a:ext uri="{FF2B5EF4-FFF2-40B4-BE49-F238E27FC236}">
                <a16:creationId xmlns:a16="http://schemas.microsoft.com/office/drawing/2014/main" id="{782AE852-E8D3-44D6-04F9-7B38B24BAB1F}"/>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5C857930-6DD2-9AC5-3906-CFA7025EFB39}"/>
              </a:ext>
            </a:extLst>
          </p:cNvPr>
          <p:cNvSpPr>
            <a:spLocks noGrp="1"/>
          </p:cNvSpPr>
          <p:nvPr>
            <p:ph type="sldNum" sz="quarter" idx="12"/>
          </p:nvPr>
        </p:nvSpPr>
        <p:spPr/>
        <p:txBody>
          <a:bodyPr/>
          <a:lstStyle/>
          <a:p>
            <a:fld id="{535D8289-FC68-40A7-8CDD-6492A22D990B}" type="slidenum">
              <a:rPr lang="hu-HU" smtClean="0"/>
              <a:t>‹#›</a:t>
            </a:fld>
            <a:endParaRPr lang="hu-HU"/>
          </a:p>
        </p:txBody>
      </p:sp>
    </p:spTree>
    <p:extLst>
      <p:ext uri="{BB962C8B-B14F-4D97-AF65-F5344CB8AC3E}">
        <p14:creationId xmlns:p14="http://schemas.microsoft.com/office/powerpoint/2010/main" val="1876203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Cím helye 1">
            <a:extLst>
              <a:ext uri="{FF2B5EF4-FFF2-40B4-BE49-F238E27FC236}">
                <a16:creationId xmlns:a16="http://schemas.microsoft.com/office/drawing/2014/main" id="{308204AA-4BEE-306D-F674-D85068C2DC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u-HU"/>
              <a:t>Mintacím szerkesztése</a:t>
            </a:r>
          </a:p>
        </p:txBody>
      </p:sp>
      <p:sp>
        <p:nvSpPr>
          <p:cNvPr id="3" name="Szöveg helye 2">
            <a:extLst>
              <a:ext uri="{FF2B5EF4-FFF2-40B4-BE49-F238E27FC236}">
                <a16:creationId xmlns:a16="http://schemas.microsoft.com/office/drawing/2014/main" id="{BECE8CE6-21DF-1726-DC52-E4C937F255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a:extLst>
              <a:ext uri="{FF2B5EF4-FFF2-40B4-BE49-F238E27FC236}">
                <a16:creationId xmlns:a16="http://schemas.microsoft.com/office/drawing/2014/main" id="{C248C6AA-775F-1D58-D2E6-79136CAF7A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B40ADC-99B2-4DD3-8634-0CBB6F8BB3CB}" type="datetimeFigureOut">
              <a:rPr lang="hu-HU" smtClean="0"/>
              <a:t>2025. 04. 29.</a:t>
            </a:fld>
            <a:endParaRPr lang="hu-HU"/>
          </a:p>
        </p:txBody>
      </p:sp>
      <p:sp>
        <p:nvSpPr>
          <p:cNvPr id="5" name="Élőláb helye 4">
            <a:extLst>
              <a:ext uri="{FF2B5EF4-FFF2-40B4-BE49-F238E27FC236}">
                <a16:creationId xmlns:a16="http://schemas.microsoft.com/office/drawing/2014/main" id="{A14FAA97-3596-CE5E-28F1-8F89B2FC31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u-HU"/>
          </a:p>
        </p:txBody>
      </p:sp>
      <p:sp>
        <p:nvSpPr>
          <p:cNvPr id="6" name="Dia számának helye 5">
            <a:extLst>
              <a:ext uri="{FF2B5EF4-FFF2-40B4-BE49-F238E27FC236}">
                <a16:creationId xmlns:a16="http://schemas.microsoft.com/office/drawing/2014/main" id="{583B79D7-29B2-0396-20EC-8911326591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35D8289-FC68-40A7-8CDD-6492A22D990B}" type="slidenum">
              <a:rPr lang="hu-HU" smtClean="0"/>
              <a:t>‹#›</a:t>
            </a:fld>
            <a:endParaRPr lang="hu-HU"/>
          </a:p>
        </p:txBody>
      </p:sp>
    </p:spTree>
    <p:extLst>
      <p:ext uri="{BB962C8B-B14F-4D97-AF65-F5344CB8AC3E}">
        <p14:creationId xmlns:p14="http://schemas.microsoft.com/office/powerpoint/2010/main" val="32106499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0" name="Rectangle 104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0747C6F7-AFF9-DF85-4597-2FA08E9005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5990" r="9089" b="12087"/>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52" name="Rectangle 105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Cím 1">
            <a:extLst>
              <a:ext uri="{FF2B5EF4-FFF2-40B4-BE49-F238E27FC236}">
                <a16:creationId xmlns:a16="http://schemas.microsoft.com/office/drawing/2014/main" id="{417C80BD-4C4C-E2C6-8D46-0B228A1F8420}"/>
              </a:ext>
            </a:extLst>
          </p:cNvPr>
          <p:cNvSpPr>
            <a:spLocks noGrp="1"/>
          </p:cNvSpPr>
          <p:nvPr>
            <p:ph type="ctrTitle"/>
          </p:nvPr>
        </p:nvSpPr>
        <p:spPr>
          <a:xfrm>
            <a:off x="477981" y="1233627"/>
            <a:ext cx="3170290" cy="1262761"/>
          </a:xfrm>
        </p:spPr>
        <p:txBody>
          <a:bodyPr anchor="b">
            <a:normAutofit/>
          </a:bodyPr>
          <a:lstStyle/>
          <a:p>
            <a:pPr algn="l"/>
            <a:r>
              <a:rPr lang="hu-HU" sz="4800" b="1" err="1">
                <a:solidFill>
                  <a:schemeClr val="bg1"/>
                </a:solidFill>
                <a:latin typeface="Aptos Display"/>
                <a:ea typeface="+mj-lt"/>
                <a:cs typeface="+mj-lt"/>
              </a:rPr>
              <a:t>Bookify</a:t>
            </a:r>
            <a:r>
              <a:rPr lang="hu-HU" sz="4800" dirty="0">
                <a:solidFill>
                  <a:schemeClr val="bg1"/>
                </a:solidFill>
                <a:ea typeface="+mj-lt"/>
                <a:cs typeface="+mj-lt"/>
              </a:rPr>
              <a:t> </a:t>
            </a:r>
            <a:endParaRPr lang="hu-HU" dirty="0">
              <a:solidFill>
                <a:schemeClr val="bg1"/>
              </a:solidFill>
            </a:endParaRPr>
          </a:p>
        </p:txBody>
      </p:sp>
      <p:sp>
        <p:nvSpPr>
          <p:cNvPr id="3" name="Alcím 2">
            <a:extLst>
              <a:ext uri="{FF2B5EF4-FFF2-40B4-BE49-F238E27FC236}">
                <a16:creationId xmlns:a16="http://schemas.microsoft.com/office/drawing/2014/main" id="{C39A1B8E-7315-8A4A-4B84-36312C8B9180}"/>
              </a:ext>
            </a:extLst>
          </p:cNvPr>
          <p:cNvSpPr>
            <a:spLocks noGrp="1"/>
          </p:cNvSpPr>
          <p:nvPr>
            <p:ph type="subTitle" idx="1"/>
          </p:nvPr>
        </p:nvSpPr>
        <p:spPr>
          <a:xfrm>
            <a:off x="477979" y="4203598"/>
            <a:ext cx="3848306" cy="1805384"/>
          </a:xfrm>
        </p:spPr>
        <p:txBody>
          <a:bodyPr>
            <a:normAutofit/>
          </a:bodyPr>
          <a:lstStyle/>
          <a:p>
            <a:pPr algn="l"/>
            <a:r>
              <a:rPr lang="hu-HU" sz="2000">
                <a:solidFill>
                  <a:schemeClr val="bg1"/>
                </a:solidFill>
              </a:rPr>
              <a:t>By: Husi Kristóf</a:t>
            </a:r>
            <a:br>
              <a:rPr lang="hu-HU" sz="2000">
                <a:solidFill>
                  <a:schemeClr val="bg1"/>
                </a:solidFill>
              </a:rPr>
            </a:br>
            <a:r>
              <a:rPr lang="hu-HU" sz="2000">
                <a:solidFill>
                  <a:schemeClr val="bg1"/>
                </a:solidFill>
              </a:rPr>
              <a:t>Brautigam Ricsi</a:t>
            </a:r>
            <a:br>
              <a:rPr lang="hu-HU" sz="2000">
                <a:solidFill>
                  <a:schemeClr val="bg1"/>
                </a:solidFill>
              </a:rPr>
            </a:br>
            <a:r>
              <a:rPr lang="hu-HU" sz="2000">
                <a:solidFill>
                  <a:schemeClr val="bg1"/>
                </a:solidFill>
              </a:rPr>
              <a:t>Erdei Tamás</a:t>
            </a:r>
          </a:p>
        </p:txBody>
      </p:sp>
    </p:spTree>
    <p:extLst>
      <p:ext uri="{BB962C8B-B14F-4D97-AF65-F5344CB8AC3E}">
        <p14:creationId xmlns:p14="http://schemas.microsoft.com/office/powerpoint/2010/main" val="118701781"/>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0" name="Rectangle 1032">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Cím 1">
            <a:extLst>
              <a:ext uri="{FF2B5EF4-FFF2-40B4-BE49-F238E27FC236}">
                <a16:creationId xmlns:a16="http://schemas.microsoft.com/office/drawing/2014/main" id="{A61D02CB-B9C5-3316-549F-D460EAB8712A}"/>
              </a:ext>
            </a:extLst>
          </p:cNvPr>
          <p:cNvSpPr>
            <a:spLocks noGrp="1"/>
          </p:cNvSpPr>
          <p:nvPr>
            <p:ph type="title"/>
          </p:nvPr>
        </p:nvSpPr>
        <p:spPr>
          <a:xfrm>
            <a:off x="838200" y="448721"/>
            <a:ext cx="4707671" cy="1225650"/>
          </a:xfrm>
        </p:spPr>
        <p:txBody>
          <a:bodyPr anchor="b">
            <a:normAutofit/>
          </a:bodyPr>
          <a:lstStyle/>
          <a:p>
            <a:r>
              <a:rPr lang="hu-HU" sz="3800" b="1">
                <a:solidFill>
                  <a:schemeClr val="bg1"/>
                </a:solidFill>
              </a:rPr>
              <a:t>Why did we build this?</a:t>
            </a:r>
          </a:p>
        </p:txBody>
      </p:sp>
      <p:cxnSp>
        <p:nvCxnSpPr>
          <p:cNvPr id="1041" name="Straight Connector 1034">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artalom helye 2">
            <a:extLst>
              <a:ext uri="{FF2B5EF4-FFF2-40B4-BE49-F238E27FC236}">
                <a16:creationId xmlns:a16="http://schemas.microsoft.com/office/drawing/2014/main" id="{14CB20A2-D43C-36B0-14E0-9EE89F844CD2}"/>
              </a:ext>
            </a:extLst>
          </p:cNvPr>
          <p:cNvSpPr>
            <a:spLocks noGrp="1"/>
          </p:cNvSpPr>
          <p:nvPr>
            <p:ph idx="1"/>
          </p:nvPr>
        </p:nvSpPr>
        <p:spPr>
          <a:xfrm>
            <a:off x="897769" y="1909192"/>
            <a:ext cx="4586513" cy="3647710"/>
          </a:xfrm>
        </p:spPr>
        <p:txBody>
          <a:bodyPr anchor="ctr">
            <a:normAutofit fontScale="92500" lnSpcReduction="10000"/>
          </a:bodyPr>
          <a:lstStyle/>
          <a:p>
            <a:r>
              <a:rPr lang="hu-HU" b="1" dirty="0">
                <a:solidFill>
                  <a:schemeClr val="bg1"/>
                </a:solidFill>
              </a:rPr>
              <a:t>The </a:t>
            </a:r>
            <a:r>
              <a:rPr lang="hu-HU" b="1" dirty="0" err="1">
                <a:solidFill>
                  <a:schemeClr val="bg1"/>
                </a:solidFill>
              </a:rPr>
              <a:t>Problem</a:t>
            </a:r>
            <a:br>
              <a:rPr lang="hu-HU" sz="1900" dirty="0">
                <a:solidFill>
                  <a:schemeClr val="bg1"/>
                </a:solidFill>
              </a:rPr>
            </a:br>
            <a:r>
              <a:rPr lang="hu-HU" sz="1900" dirty="0" err="1">
                <a:solidFill>
                  <a:schemeClr val="bg1"/>
                </a:solidFill>
              </a:rPr>
              <a:t>Manual</a:t>
            </a:r>
            <a:r>
              <a:rPr lang="hu-HU" sz="1900" dirty="0">
                <a:solidFill>
                  <a:schemeClr val="bg1"/>
                </a:solidFill>
              </a:rPr>
              <a:t> </a:t>
            </a:r>
            <a:r>
              <a:rPr lang="hu-HU" sz="1900" dirty="0" err="1">
                <a:solidFill>
                  <a:schemeClr val="bg1"/>
                </a:solidFill>
              </a:rPr>
              <a:t>appointment</a:t>
            </a:r>
            <a:r>
              <a:rPr lang="hu-HU" sz="1900" dirty="0">
                <a:solidFill>
                  <a:schemeClr val="bg1"/>
                </a:solidFill>
              </a:rPr>
              <a:t> </a:t>
            </a:r>
            <a:r>
              <a:rPr lang="hu-HU" sz="1900" dirty="0" err="1">
                <a:solidFill>
                  <a:schemeClr val="bg1"/>
                </a:solidFill>
              </a:rPr>
              <a:t>scheduling</a:t>
            </a:r>
            <a:r>
              <a:rPr lang="hu-HU" sz="1900" dirty="0">
                <a:solidFill>
                  <a:schemeClr val="bg1"/>
                </a:solidFill>
              </a:rPr>
              <a:t>, </a:t>
            </a:r>
            <a:r>
              <a:rPr lang="hu-HU" sz="1900" dirty="0" err="1">
                <a:solidFill>
                  <a:schemeClr val="bg1"/>
                </a:solidFill>
              </a:rPr>
              <a:t>missed</a:t>
            </a:r>
            <a:r>
              <a:rPr lang="hu-HU" sz="1900" dirty="0">
                <a:solidFill>
                  <a:schemeClr val="bg1"/>
                </a:solidFill>
              </a:rPr>
              <a:t> </a:t>
            </a:r>
            <a:r>
              <a:rPr lang="hu-HU" sz="1900" dirty="0" err="1">
                <a:solidFill>
                  <a:schemeClr val="bg1"/>
                </a:solidFill>
              </a:rPr>
              <a:t>bookings</a:t>
            </a:r>
            <a:r>
              <a:rPr lang="hu-HU" sz="1900" dirty="0">
                <a:solidFill>
                  <a:schemeClr val="bg1"/>
                </a:solidFill>
              </a:rPr>
              <a:t> and 	</a:t>
            </a:r>
            <a:r>
              <a:rPr lang="hu-HU" sz="1900" dirty="0" err="1">
                <a:solidFill>
                  <a:schemeClr val="bg1"/>
                </a:solidFill>
              </a:rPr>
              <a:t>inefficiencies</a:t>
            </a:r>
            <a:r>
              <a:rPr lang="hu-HU" sz="1900" dirty="0">
                <a:solidFill>
                  <a:schemeClr val="bg1"/>
                </a:solidFill>
              </a:rPr>
              <a:t>.</a:t>
            </a:r>
            <a:br>
              <a:rPr lang="hu-HU" sz="1900" dirty="0">
                <a:solidFill>
                  <a:schemeClr val="bg1"/>
                </a:solidFill>
              </a:rPr>
            </a:br>
            <a:endParaRPr lang="hu-HU" sz="1900" dirty="0">
              <a:solidFill>
                <a:schemeClr val="bg1"/>
              </a:solidFill>
            </a:endParaRPr>
          </a:p>
          <a:p>
            <a:r>
              <a:rPr lang="hu-HU" b="1" dirty="0" err="1">
                <a:solidFill>
                  <a:schemeClr val="bg1"/>
                </a:solidFill>
              </a:rPr>
              <a:t>Solution</a:t>
            </a:r>
            <a:br>
              <a:rPr lang="hu-HU" sz="1900" b="1" dirty="0">
                <a:solidFill>
                  <a:schemeClr val="bg1"/>
                </a:solidFill>
              </a:rPr>
            </a:br>
            <a:r>
              <a:rPr lang="hu-HU" sz="1900" dirty="0">
                <a:solidFill>
                  <a:schemeClr val="bg1"/>
                </a:solidFill>
              </a:rPr>
              <a:t>Web-</a:t>
            </a:r>
            <a:r>
              <a:rPr lang="hu-HU" sz="1900" dirty="0" err="1">
                <a:solidFill>
                  <a:schemeClr val="bg1"/>
                </a:solidFill>
              </a:rPr>
              <a:t>based</a:t>
            </a:r>
            <a:r>
              <a:rPr lang="hu-HU" sz="1900" dirty="0">
                <a:solidFill>
                  <a:schemeClr val="bg1"/>
                </a:solidFill>
              </a:rPr>
              <a:t> </a:t>
            </a:r>
            <a:r>
              <a:rPr lang="hu-HU" sz="1900" dirty="0" err="1">
                <a:solidFill>
                  <a:schemeClr val="bg1"/>
                </a:solidFill>
              </a:rPr>
              <a:t>system</a:t>
            </a:r>
            <a:r>
              <a:rPr lang="hu-HU" sz="1900" dirty="0">
                <a:solidFill>
                  <a:schemeClr val="bg1"/>
                </a:solidFill>
              </a:rPr>
              <a:t> </a:t>
            </a:r>
            <a:r>
              <a:rPr lang="hu-HU" sz="1900" dirty="0" err="1">
                <a:solidFill>
                  <a:schemeClr val="bg1"/>
                </a:solidFill>
              </a:rPr>
              <a:t>for</a:t>
            </a:r>
            <a:r>
              <a:rPr lang="hu-HU" sz="1900" dirty="0">
                <a:solidFill>
                  <a:schemeClr val="bg1"/>
                </a:solidFill>
              </a:rPr>
              <a:t> </a:t>
            </a:r>
            <a:r>
              <a:rPr lang="hu-HU" sz="1900" dirty="0" err="1">
                <a:solidFill>
                  <a:schemeClr val="bg1"/>
                </a:solidFill>
              </a:rPr>
              <a:t>automated</a:t>
            </a:r>
            <a:r>
              <a:rPr lang="hu-HU" sz="1900" dirty="0">
                <a:solidFill>
                  <a:schemeClr val="bg1"/>
                </a:solidFill>
              </a:rPr>
              <a:t> </a:t>
            </a:r>
            <a:r>
              <a:rPr lang="hu-HU" sz="1900" dirty="0" err="1">
                <a:solidFill>
                  <a:schemeClr val="bg1"/>
                </a:solidFill>
              </a:rPr>
              <a:t>scheduling</a:t>
            </a:r>
            <a:br>
              <a:rPr lang="hu-HU" sz="1900" dirty="0">
                <a:solidFill>
                  <a:schemeClr val="bg1"/>
                </a:solidFill>
              </a:rPr>
            </a:br>
            <a:endParaRPr lang="hu-HU" sz="1900" dirty="0">
              <a:solidFill>
                <a:schemeClr val="bg1"/>
              </a:solidFill>
            </a:endParaRPr>
          </a:p>
          <a:p>
            <a:r>
              <a:rPr lang="hu-HU" b="1" dirty="0" err="1">
                <a:solidFill>
                  <a:schemeClr val="bg1"/>
                </a:solidFill>
              </a:rPr>
              <a:t>Target</a:t>
            </a:r>
            <a:r>
              <a:rPr lang="hu-HU" b="1" dirty="0">
                <a:solidFill>
                  <a:schemeClr val="bg1"/>
                </a:solidFill>
              </a:rPr>
              <a:t> </a:t>
            </a:r>
            <a:r>
              <a:rPr lang="hu-HU" b="1" dirty="0" err="1">
                <a:solidFill>
                  <a:schemeClr val="bg1"/>
                </a:solidFill>
              </a:rPr>
              <a:t>Users</a:t>
            </a:r>
            <a:br>
              <a:rPr lang="hu-HU" sz="1900" b="1" dirty="0">
                <a:solidFill>
                  <a:schemeClr val="bg1"/>
                </a:solidFill>
              </a:rPr>
            </a:br>
            <a:r>
              <a:rPr lang="hu-HU" sz="1900" dirty="0">
                <a:solidFill>
                  <a:schemeClr val="bg1"/>
                </a:solidFill>
              </a:rPr>
              <a:t>Service </a:t>
            </a:r>
            <a:r>
              <a:rPr lang="hu-HU" sz="1900" dirty="0" err="1">
                <a:solidFill>
                  <a:schemeClr val="bg1"/>
                </a:solidFill>
              </a:rPr>
              <a:t>providers</a:t>
            </a:r>
            <a:br>
              <a:rPr lang="hu-HU" sz="1900" dirty="0">
                <a:solidFill>
                  <a:schemeClr val="bg1"/>
                </a:solidFill>
              </a:rPr>
            </a:br>
            <a:r>
              <a:rPr lang="hu-HU" sz="1900" dirty="0" err="1">
                <a:solidFill>
                  <a:schemeClr val="bg1"/>
                </a:solidFill>
              </a:rPr>
              <a:t>Customers</a:t>
            </a:r>
            <a:br>
              <a:rPr lang="hu-HU" sz="1900" dirty="0">
                <a:solidFill>
                  <a:schemeClr val="bg1"/>
                </a:solidFill>
              </a:rPr>
            </a:br>
            <a:br>
              <a:rPr lang="hu-HU" sz="1900" dirty="0">
                <a:solidFill>
                  <a:schemeClr val="bg1"/>
                </a:solidFill>
              </a:rPr>
            </a:br>
            <a:endParaRPr lang="hu-HU" sz="1900" dirty="0">
              <a:solidFill>
                <a:schemeClr val="bg1"/>
              </a:solidFill>
            </a:endParaRPr>
          </a:p>
        </p:txBody>
      </p:sp>
      <p:pic>
        <p:nvPicPr>
          <p:cNvPr id="1026" name="Picture 2" descr="Work Schedule: How To Create One In 2025?">
            <a:extLst>
              <a:ext uri="{FF2B5EF4-FFF2-40B4-BE49-F238E27FC236}">
                <a16:creationId xmlns:a16="http://schemas.microsoft.com/office/drawing/2014/main" id="{285E9F53-A87B-73DB-ED10-0A990F6D8F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964" r="3232" b="-2"/>
          <a:stretch/>
        </p:blipFill>
        <p:spPr bwMode="auto">
          <a:xfrm>
            <a:off x="6525453" y="1"/>
            <a:ext cx="5666547" cy="3398024"/>
          </a:xfrm>
          <a:prstGeom prst="rect">
            <a:avLst/>
          </a:prstGeom>
          <a:noFill/>
          <a:extLst>
            <a:ext uri="{909E8E84-426E-40DD-AFC4-6F175D3DCCD1}">
              <a14:hiddenFill xmlns:a14="http://schemas.microsoft.com/office/drawing/2010/main">
                <a:solidFill>
                  <a:srgbClr val="FFFFFF"/>
                </a:solidFill>
              </a14:hiddenFill>
            </a:ext>
          </a:extLst>
        </p:spPr>
      </p:pic>
      <p:cxnSp>
        <p:nvCxnSpPr>
          <p:cNvPr id="1042" name="Straight Connector 1036">
            <a:extLst>
              <a:ext uri="{FF2B5EF4-FFF2-40B4-BE49-F238E27FC236}">
                <a16:creationId xmlns:a16="http://schemas.microsoft.com/office/drawing/2014/main" id="{CA240C79-242E-4918-9F28-B101847D1CC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522277" y="3386960"/>
            <a:ext cx="5669723"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39" name="Straight Connector 1038">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028" name="Picture 4" descr="Customer | Universal Marketing Dictionary">
            <a:extLst>
              <a:ext uri="{FF2B5EF4-FFF2-40B4-BE49-F238E27FC236}">
                <a16:creationId xmlns:a16="http://schemas.microsoft.com/office/drawing/2014/main" id="{5B3880AD-3DBD-2981-8D58-EF9B2E2847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2" b="8334"/>
          <a:stretch/>
        </p:blipFill>
        <p:spPr bwMode="auto">
          <a:xfrm>
            <a:off x="6522277" y="3398024"/>
            <a:ext cx="5669723" cy="3469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2778532"/>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Cím 1">
            <a:extLst>
              <a:ext uri="{FF2B5EF4-FFF2-40B4-BE49-F238E27FC236}">
                <a16:creationId xmlns:a16="http://schemas.microsoft.com/office/drawing/2014/main" id="{A78C3EB4-8995-0734-E292-F9B66FDECE32}"/>
              </a:ext>
            </a:extLst>
          </p:cNvPr>
          <p:cNvSpPr>
            <a:spLocks noGrp="1"/>
          </p:cNvSpPr>
          <p:nvPr>
            <p:ph type="title"/>
          </p:nvPr>
        </p:nvSpPr>
        <p:spPr>
          <a:xfrm>
            <a:off x="1014141" y="1450655"/>
            <a:ext cx="3932030" cy="3956690"/>
          </a:xfrm>
        </p:spPr>
        <p:txBody>
          <a:bodyPr anchor="ctr">
            <a:normAutofit/>
          </a:bodyPr>
          <a:lstStyle/>
          <a:p>
            <a:pPr algn="ctr"/>
            <a:r>
              <a:rPr lang="hu-HU" sz="7400" b="1" dirty="0">
                <a:solidFill>
                  <a:schemeClr val="bg1"/>
                </a:solidFill>
              </a:rPr>
              <a:t>Key </a:t>
            </a:r>
            <a:r>
              <a:rPr lang="hu-HU" sz="7400" b="1" dirty="0" err="1">
                <a:solidFill>
                  <a:schemeClr val="bg1"/>
                </a:solidFill>
              </a:rPr>
              <a:t>Features</a:t>
            </a:r>
            <a:endParaRPr lang="hu-HU" sz="7400" b="1" dirty="0">
              <a:solidFill>
                <a:schemeClr val="bg1"/>
              </a:solidFill>
            </a:endParaRPr>
          </a:p>
        </p:txBody>
      </p:sp>
      <p:cxnSp>
        <p:nvCxnSpPr>
          <p:cNvPr id="19" name="Straight Connector 18">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artalom helye 2">
            <a:extLst>
              <a:ext uri="{FF2B5EF4-FFF2-40B4-BE49-F238E27FC236}">
                <a16:creationId xmlns:a16="http://schemas.microsoft.com/office/drawing/2014/main" id="{0F78CCF7-3447-CF0C-0164-6B383CE9AB26}"/>
              </a:ext>
            </a:extLst>
          </p:cNvPr>
          <p:cNvSpPr>
            <a:spLocks noGrp="1"/>
          </p:cNvSpPr>
          <p:nvPr>
            <p:ph idx="1"/>
          </p:nvPr>
        </p:nvSpPr>
        <p:spPr>
          <a:xfrm>
            <a:off x="6096000" y="1108061"/>
            <a:ext cx="5008901" cy="4571972"/>
          </a:xfrm>
        </p:spPr>
        <p:txBody>
          <a:bodyPr anchor="ctr">
            <a:normAutofit/>
          </a:bodyPr>
          <a:lstStyle/>
          <a:p>
            <a:r>
              <a:rPr lang="hu-HU" sz="2000" dirty="0" err="1">
                <a:solidFill>
                  <a:schemeClr val="bg1"/>
                </a:solidFill>
              </a:rPr>
              <a:t>User</a:t>
            </a:r>
            <a:r>
              <a:rPr lang="hu-HU" sz="2000" dirty="0">
                <a:solidFill>
                  <a:schemeClr val="bg1"/>
                </a:solidFill>
              </a:rPr>
              <a:t> </a:t>
            </a:r>
            <a:r>
              <a:rPr lang="hu-HU" sz="2000" dirty="0" err="1">
                <a:solidFill>
                  <a:schemeClr val="bg1"/>
                </a:solidFill>
              </a:rPr>
              <a:t>Registration</a:t>
            </a:r>
            <a:r>
              <a:rPr lang="hu-HU" sz="2000" dirty="0">
                <a:solidFill>
                  <a:schemeClr val="bg1"/>
                </a:solidFill>
              </a:rPr>
              <a:t>/Login</a:t>
            </a:r>
            <a:br>
              <a:rPr lang="hu-HU" sz="2000" dirty="0">
                <a:solidFill>
                  <a:schemeClr val="bg1"/>
                </a:solidFill>
              </a:rPr>
            </a:br>
            <a:endParaRPr lang="hu-HU" sz="2000" dirty="0">
              <a:solidFill>
                <a:schemeClr val="bg1"/>
              </a:solidFill>
            </a:endParaRPr>
          </a:p>
          <a:p>
            <a:r>
              <a:rPr lang="hu-HU" sz="2000" dirty="0" err="1">
                <a:solidFill>
                  <a:schemeClr val="bg1"/>
                </a:solidFill>
              </a:rPr>
              <a:t>User</a:t>
            </a:r>
            <a:r>
              <a:rPr lang="hu-HU" sz="2000" dirty="0">
                <a:solidFill>
                  <a:schemeClr val="bg1"/>
                </a:solidFill>
              </a:rPr>
              <a:t> </a:t>
            </a:r>
            <a:r>
              <a:rPr lang="hu-HU" sz="2000" dirty="0" err="1">
                <a:solidFill>
                  <a:schemeClr val="bg1"/>
                </a:solidFill>
              </a:rPr>
              <a:t>Friendly</a:t>
            </a:r>
            <a:r>
              <a:rPr lang="hu-HU" sz="2000" dirty="0">
                <a:solidFill>
                  <a:schemeClr val="bg1"/>
                </a:solidFill>
              </a:rPr>
              <a:t> </a:t>
            </a:r>
            <a:r>
              <a:rPr lang="hu-HU" sz="2000" dirty="0" err="1">
                <a:solidFill>
                  <a:schemeClr val="bg1"/>
                </a:solidFill>
              </a:rPr>
              <a:t>Interface</a:t>
            </a:r>
            <a:br>
              <a:rPr lang="hu-HU" sz="2000" dirty="0">
                <a:solidFill>
                  <a:schemeClr val="bg1"/>
                </a:solidFill>
              </a:rPr>
            </a:br>
            <a:endParaRPr lang="hu-HU" sz="2000" dirty="0">
              <a:solidFill>
                <a:schemeClr val="bg1"/>
              </a:solidFill>
            </a:endParaRPr>
          </a:p>
          <a:p>
            <a:r>
              <a:rPr lang="hu-HU" sz="2000" dirty="0" err="1">
                <a:solidFill>
                  <a:schemeClr val="bg1"/>
                </a:solidFill>
              </a:rPr>
              <a:t>Appointment</a:t>
            </a:r>
            <a:r>
              <a:rPr lang="hu-HU" sz="2000" dirty="0">
                <a:solidFill>
                  <a:schemeClr val="bg1"/>
                </a:solidFill>
              </a:rPr>
              <a:t> </a:t>
            </a:r>
            <a:r>
              <a:rPr lang="hu-HU" sz="2000" dirty="0" err="1">
                <a:solidFill>
                  <a:schemeClr val="bg1"/>
                </a:solidFill>
              </a:rPr>
              <a:t>Scheduling</a:t>
            </a:r>
            <a:br>
              <a:rPr lang="hu-HU" sz="2000" dirty="0">
                <a:solidFill>
                  <a:schemeClr val="bg1"/>
                </a:solidFill>
              </a:rPr>
            </a:br>
            <a:endParaRPr lang="hu-HU" sz="2000" dirty="0">
              <a:solidFill>
                <a:schemeClr val="bg1"/>
              </a:solidFill>
            </a:endParaRPr>
          </a:p>
          <a:p>
            <a:r>
              <a:rPr lang="hu-HU" sz="2000" dirty="0">
                <a:solidFill>
                  <a:schemeClr val="bg1"/>
                </a:solidFill>
              </a:rPr>
              <a:t>Real-</a:t>
            </a:r>
            <a:r>
              <a:rPr lang="hu-HU" sz="2000" dirty="0" err="1">
                <a:solidFill>
                  <a:schemeClr val="bg1"/>
                </a:solidFill>
              </a:rPr>
              <a:t>time</a:t>
            </a:r>
            <a:r>
              <a:rPr lang="hu-HU" sz="2000" dirty="0">
                <a:solidFill>
                  <a:schemeClr val="bg1"/>
                </a:solidFill>
              </a:rPr>
              <a:t> </a:t>
            </a:r>
            <a:r>
              <a:rPr lang="hu-HU" sz="2000" dirty="0" err="1">
                <a:solidFill>
                  <a:schemeClr val="bg1"/>
                </a:solidFill>
              </a:rPr>
              <a:t>Rating</a:t>
            </a:r>
            <a:r>
              <a:rPr lang="hu-HU" sz="2000" dirty="0">
                <a:solidFill>
                  <a:schemeClr val="bg1"/>
                </a:solidFill>
              </a:rPr>
              <a:t> System</a:t>
            </a:r>
          </a:p>
          <a:p>
            <a:endParaRPr lang="hu-HU" sz="2000" dirty="0">
              <a:solidFill>
                <a:schemeClr val="bg1"/>
              </a:solidFill>
            </a:endParaRPr>
          </a:p>
          <a:p>
            <a:r>
              <a:rPr lang="hu-HU" sz="2000" dirty="0" err="1">
                <a:solidFill>
                  <a:schemeClr val="bg1"/>
                </a:solidFill>
              </a:rPr>
              <a:t>Up</a:t>
            </a:r>
            <a:r>
              <a:rPr lang="hu-HU" sz="2000" dirty="0">
                <a:solidFill>
                  <a:schemeClr val="bg1"/>
                </a:solidFill>
              </a:rPr>
              <a:t> </a:t>
            </a:r>
            <a:r>
              <a:rPr lang="hu-HU" sz="2000" dirty="0" err="1">
                <a:solidFill>
                  <a:schemeClr val="bg1"/>
                </a:solidFill>
              </a:rPr>
              <a:t>To</a:t>
            </a:r>
            <a:r>
              <a:rPr lang="hu-HU" sz="2000" dirty="0">
                <a:solidFill>
                  <a:schemeClr val="bg1"/>
                </a:solidFill>
              </a:rPr>
              <a:t> </a:t>
            </a:r>
            <a:r>
              <a:rPr lang="hu-HU" sz="2000" dirty="0" err="1">
                <a:solidFill>
                  <a:schemeClr val="bg1"/>
                </a:solidFill>
              </a:rPr>
              <a:t>Date</a:t>
            </a:r>
            <a:r>
              <a:rPr lang="hu-HU" sz="2000" dirty="0">
                <a:solidFill>
                  <a:schemeClr val="bg1"/>
                </a:solidFill>
              </a:rPr>
              <a:t> </a:t>
            </a:r>
            <a:r>
              <a:rPr lang="hu-HU" sz="2000" dirty="0" err="1">
                <a:solidFill>
                  <a:schemeClr val="bg1"/>
                </a:solidFill>
              </a:rPr>
              <a:t>Calendar</a:t>
            </a:r>
            <a:br>
              <a:rPr lang="hu-HU" sz="2000" dirty="0">
                <a:solidFill>
                  <a:schemeClr val="bg1"/>
                </a:solidFill>
              </a:rPr>
            </a:br>
            <a:endParaRPr lang="hu-HU" sz="2000" dirty="0">
              <a:solidFill>
                <a:schemeClr val="bg1"/>
              </a:solidFill>
            </a:endParaRPr>
          </a:p>
          <a:p>
            <a:r>
              <a:rPr lang="hu-HU" sz="2000" dirty="0">
                <a:solidFill>
                  <a:schemeClr val="bg1"/>
                </a:solidFill>
              </a:rPr>
              <a:t>Image </a:t>
            </a:r>
            <a:r>
              <a:rPr lang="hu-HU" sz="2000" dirty="0" err="1">
                <a:solidFill>
                  <a:schemeClr val="bg1"/>
                </a:solidFill>
              </a:rPr>
              <a:t>Uploading</a:t>
            </a:r>
            <a:br>
              <a:rPr lang="hu-HU" sz="2000" dirty="0">
                <a:solidFill>
                  <a:schemeClr val="bg1"/>
                </a:solidFill>
              </a:rPr>
            </a:br>
            <a:endParaRPr lang="hu-HU" sz="2000" dirty="0">
              <a:solidFill>
                <a:schemeClr val="bg1"/>
              </a:solidFill>
            </a:endParaRPr>
          </a:p>
          <a:p>
            <a:r>
              <a:rPr lang="hu-HU" sz="2000" dirty="0" err="1">
                <a:solidFill>
                  <a:schemeClr val="bg1"/>
                </a:solidFill>
              </a:rPr>
              <a:t>Responsive</a:t>
            </a:r>
            <a:r>
              <a:rPr lang="hu-HU" sz="2000" dirty="0">
                <a:solidFill>
                  <a:schemeClr val="bg1"/>
                </a:solidFill>
              </a:rPr>
              <a:t> Design</a:t>
            </a:r>
          </a:p>
        </p:txBody>
      </p:sp>
    </p:spTree>
    <p:extLst>
      <p:ext uri="{BB962C8B-B14F-4D97-AF65-F5344CB8AC3E}">
        <p14:creationId xmlns:p14="http://schemas.microsoft.com/office/powerpoint/2010/main" val="211059656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E9F8D0D0-323B-7745-B5F3-A1CA06A242DC}"/>
              </a:ext>
            </a:extLst>
          </p:cNvPr>
          <p:cNvSpPr>
            <a:spLocks noGrp="1"/>
          </p:cNvSpPr>
          <p:nvPr>
            <p:ph type="title"/>
          </p:nvPr>
        </p:nvSpPr>
        <p:spPr>
          <a:xfrm>
            <a:off x="688832" y="430600"/>
            <a:ext cx="4713045" cy="1465053"/>
          </a:xfrm>
        </p:spPr>
        <p:txBody>
          <a:bodyPr anchor="t">
            <a:normAutofit/>
          </a:bodyPr>
          <a:lstStyle/>
          <a:p>
            <a:r>
              <a:rPr lang="hu-HU" b="1" dirty="0">
                <a:solidFill>
                  <a:schemeClr val="bg1"/>
                </a:solidFill>
              </a:rPr>
              <a:t>Design &amp; </a:t>
            </a:r>
            <a:r>
              <a:rPr lang="hu-HU" b="1" dirty="0" err="1">
                <a:solidFill>
                  <a:schemeClr val="bg1"/>
                </a:solidFill>
              </a:rPr>
              <a:t>Mockups</a:t>
            </a:r>
            <a:endParaRPr lang="hu-HU" b="1" dirty="0">
              <a:solidFill>
                <a:schemeClr val="bg1"/>
              </a:solidFill>
            </a:endParaRPr>
          </a:p>
        </p:txBody>
      </p:sp>
      <p:sp>
        <p:nvSpPr>
          <p:cNvPr id="27" name="Rectangle 26">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artalom helye 2">
            <a:extLst>
              <a:ext uri="{FF2B5EF4-FFF2-40B4-BE49-F238E27FC236}">
                <a16:creationId xmlns:a16="http://schemas.microsoft.com/office/drawing/2014/main" id="{28E93A07-C56B-C787-CC94-6472BCDCABF2}"/>
              </a:ext>
            </a:extLst>
          </p:cNvPr>
          <p:cNvSpPr>
            <a:spLocks noGrp="1"/>
          </p:cNvSpPr>
          <p:nvPr>
            <p:ph idx="1"/>
          </p:nvPr>
        </p:nvSpPr>
        <p:spPr>
          <a:xfrm>
            <a:off x="6916909" y="226248"/>
            <a:ext cx="3952515" cy="1263091"/>
          </a:xfrm>
        </p:spPr>
        <p:txBody>
          <a:bodyPr vert="horz" lIns="91440" tIns="45720" rIns="91440" bIns="45720" rtlCol="0" anchor="t">
            <a:normAutofit lnSpcReduction="10000"/>
          </a:bodyPr>
          <a:lstStyle/>
          <a:p>
            <a:pPr marL="0" indent="0">
              <a:buNone/>
            </a:pPr>
            <a:r>
              <a:rPr lang="hu-HU" sz="2400" dirty="0" err="1"/>
              <a:t>Responsive</a:t>
            </a:r>
            <a:r>
              <a:rPr lang="hu-HU" sz="2400" dirty="0"/>
              <a:t> design (</a:t>
            </a:r>
            <a:r>
              <a:rPr lang="hu-HU" sz="2400" dirty="0" err="1"/>
              <a:t>desktop</a:t>
            </a:r>
            <a:r>
              <a:rPr lang="hu-HU" sz="2400" dirty="0"/>
              <a:t> &amp; mobile)</a:t>
            </a:r>
            <a:br>
              <a:rPr lang="hu-HU" sz="2400" dirty="0"/>
            </a:br>
            <a:r>
              <a:rPr lang="hu-HU" sz="2400" dirty="0" err="1"/>
              <a:t>Dark</a:t>
            </a:r>
            <a:r>
              <a:rPr lang="hu-HU" sz="2400" dirty="0"/>
              <a:t>/</a:t>
            </a:r>
            <a:r>
              <a:rPr lang="hu-HU" sz="2400" dirty="0" err="1"/>
              <a:t>Light</a:t>
            </a:r>
            <a:r>
              <a:rPr lang="hu-HU" sz="2400" dirty="0"/>
              <a:t> </a:t>
            </a:r>
            <a:r>
              <a:rPr lang="hu-HU" sz="2400" dirty="0" err="1"/>
              <a:t>mode</a:t>
            </a:r>
            <a:r>
              <a:rPr lang="hu-HU" sz="2400" dirty="0"/>
              <a:t> </a:t>
            </a:r>
            <a:r>
              <a:rPr lang="hu-HU" sz="2400" dirty="0" err="1"/>
              <a:t>support</a:t>
            </a:r>
            <a:br>
              <a:rPr lang="hu-HU" sz="2400" dirty="0"/>
            </a:br>
            <a:r>
              <a:rPr lang="hu-HU" sz="2400" dirty="0" err="1"/>
              <a:t>Simple</a:t>
            </a:r>
            <a:r>
              <a:rPr lang="hu-HU" sz="2400" dirty="0"/>
              <a:t> </a:t>
            </a:r>
            <a:r>
              <a:rPr lang="hu-HU" sz="2400" dirty="0" err="1"/>
              <a:t>navigation</a:t>
            </a:r>
            <a:endParaRPr lang="hu-HU" sz="2400" dirty="0"/>
          </a:p>
          <a:p>
            <a:pPr marL="0" indent="0">
              <a:buNone/>
            </a:pPr>
            <a:endParaRPr lang="hu-HU" sz="1600" dirty="0"/>
          </a:p>
        </p:txBody>
      </p:sp>
      <p:pic>
        <p:nvPicPr>
          <p:cNvPr id="9" name="Kép 8">
            <a:extLst>
              <a:ext uri="{FF2B5EF4-FFF2-40B4-BE49-F238E27FC236}">
                <a16:creationId xmlns:a16="http://schemas.microsoft.com/office/drawing/2014/main" id="{8F72EBB7-15C8-8A34-32CB-AB668CE243A9}"/>
              </a:ext>
            </a:extLst>
          </p:cNvPr>
          <p:cNvPicPr>
            <a:picLocks noChangeAspect="1"/>
          </p:cNvPicPr>
          <p:nvPr/>
        </p:nvPicPr>
        <p:blipFill>
          <a:blip r:embed="rId2"/>
          <a:stretch>
            <a:fillRect/>
          </a:stretch>
        </p:blipFill>
        <p:spPr>
          <a:xfrm>
            <a:off x="565007" y="2223081"/>
            <a:ext cx="4959020" cy="3529294"/>
          </a:xfrm>
          <a:prstGeom prst="rect">
            <a:avLst/>
          </a:prstGeom>
        </p:spPr>
      </p:pic>
      <p:pic>
        <p:nvPicPr>
          <p:cNvPr id="7" name="Kép 6">
            <a:extLst>
              <a:ext uri="{FF2B5EF4-FFF2-40B4-BE49-F238E27FC236}">
                <a16:creationId xmlns:a16="http://schemas.microsoft.com/office/drawing/2014/main" id="{9D76DD92-81C3-1433-91BA-1F4E3A2598FD}"/>
              </a:ext>
            </a:extLst>
          </p:cNvPr>
          <p:cNvPicPr>
            <a:picLocks noChangeAspect="1"/>
          </p:cNvPicPr>
          <p:nvPr/>
        </p:nvPicPr>
        <p:blipFill>
          <a:blip r:embed="rId3"/>
          <a:srcRect l="-506" t="-67" r="506" b="-348"/>
          <a:stretch/>
        </p:blipFill>
        <p:spPr>
          <a:xfrm>
            <a:off x="6728133" y="1702386"/>
            <a:ext cx="4303917" cy="2535611"/>
          </a:xfrm>
          <a:prstGeom prst="rect">
            <a:avLst/>
          </a:prstGeom>
        </p:spPr>
      </p:pic>
      <p:pic>
        <p:nvPicPr>
          <p:cNvPr id="11" name="Kép 10">
            <a:extLst>
              <a:ext uri="{FF2B5EF4-FFF2-40B4-BE49-F238E27FC236}">
                <a16:creationId xmlns:a16="http://schemas.microsoft.com/office/drawing/2014/main" id="{BFA866BA-4472-9B77-74F2-D32ACFDCEFAC}"/>
              </a:ext>
            </a:extLst>
          </p:cNvPr>
          <p:cNvPicPr>
            <a:picLocks noChangeAspect="1"/>
          </p:cNvPicPr>
          <p:nvPr/>
        </p:nvPicPr>
        <p:blipFill>
          <a:blip r:embed="rId4"/>
          <a:stretch>
            <a:fillRect/>
          </a:stretch>
        </p:blipFill>
        <p:spPr>
          <a:xfrm>
            <a:off x="6731886" y="4239195"/>
            <a:ext cx="4307758" cy="2261805"/>
          </a:xfrm>
          <a:prstGeom prst="rect">
            <a:avLst/>
          </a:prstGeom>
        </p:spPr>
      </p:pic>
    </p:spTree>
    <p:extLst>
      <p:ext uri="{BB962C8B-B14F-4D97-AF65-F5344CB8AC3E}">
        <p14:creationId xmlns:p14="http://schemas.microsoft.com/office/powerpoint/2010/main" val="1261678984"/>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68"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1EA397C1-B6A6-92D8-7788-D2549B7767FA}"/>
              </a:ext>
            </a:extLst>
          </p:cNvPr>
          <p:cNvSpPr>
            <a:spLocks noGrp="1"/>
          </p:cNvSpPr>
          <p:nvPr>
            <p:ph type="title"/>
          </p:nvPr>
        </p:nvSpPr>
        <p:spPr>
          <a:xfrm>
            <a:off x="577950" y="530522"/>
            <a:ext cx="5265623" cy="1480199"/>
          </a:xfrm>
        </p:spPr>
        <p:txBody>
          <a:bodyPr vert="horz" lIns="91440" tIns="45720" rIns="91440" bIns="45720" rtlCol="0" anchor="t">
            <a:normAutofit/>
          </a:bodyPr>
          <a:lstStyle/>
          <a:p>
            <a:r>
              <a:rPr lang="en-US" b="1" kern="1200" dirty="0">
                <a:solidFill>
                  <a:schemeClr val="bg1"/>
                </a:solidFill>
                <a:latin typeface="+mj-lt"/>
                <a:ea typeface="+mj-ea"/>
                <a:cs typeface="+mj-cs"/>
              </a:rPr>
              <a:t>Finished Webpage</a:t>
            </a:r>
          </a:p>
        </p:txBody>
      </p:sp>
      <p:sp>
        <p:nvSpPr>
          <p:cNvPr id="37" name="Rectangle 36">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Kép 12">
            <a:extLst>
              <a:ext uri="{FF2B5EF4-FFF2-40B4-BE49-F238E27FC236}">
                <a16:creationId xmlns:a16="http://schemas.microsoft.com/office/drawing/2014/main" id="{E941CACA-5963-28E8-7A02-D1C7EF70926F}"/>
              </a:ext>
            </a:extLst>
          </p:cNvPr>
          <p:cNvPicPr>
            <a:picLocks noChangeAspect="1"/>
          </p:cNvPicPr>
          <p:nvPr/>
        </p:nvPicPr>
        <p:blipFill>
          <a:blip r:embed="rId2"/>
          <a:stretch>
            <a:fillRect/>
          </a:stretch>
        </p:blipFill>
        <p:spPr>
          <a:xfrm>
            <a:off x="6407079" y="822070"/>
            <a:ext cx="5470666" cy="1760909"/>
          </a:xfrm>
          <a:prstGeom prst="rect">
            <a:avLst/>
          </a:prstGeom>
        </p:spPr>
      </p:pic>
      <p:pic>
        <p:nvPicPr>
          <p:cNvPr id="4" name="Kép 3">
            <a:extLst>
              <a:ext uri="{FF2B5EF4-FFF2-40B4-BE49-F238E27FC236}">
                <a16:creationId xmlns:a16="http://schemas.microsoft.com/office/drawing/2014/main" id="{527AF839-D882-08F6-8E09-46062937B11B}"/>
              </a:ext>
            </a:extLst>
          </p:cNvPr>
          <p:cNvPicPr>
            <a:picLocks noChangeAspect="1"/>
          </p:cNvPicPr>
          <p:nvPr/>
        </p:nvPicPr>
        <p:blipFill>
          <a:blip r:embed="rId3"/>
          <a:stretch>
            <a:fillRect/>
          </a:stretch>
        </p:blipFill>
        <p:spPr>
          <a:xfrm>
            <a:off x="7048487" y="2809083"/>
            <a:ext cx="4157510" cy="3862480"/>
          </a:xfrm>
          <a:prstGeom prst="rect">
            <a:avLst/>
          </a:prstGeom>
        </p:spPr>
      </p:pic>
      <p:pic>
        <p:nvPicPr>
          <p:cNvPr id="6" name="Kép 5">
            <a:extLst>
              <a:ext uri="{FF2B5EF4-FFF2-40B4-BE49-F238E27FC236}">
                <a16:creationId xmlns:a16="http://schemas.microsoft.com/office/drawing/2014/main" id="{7951B074-1BF8-1FAA-2F64-A43823DB552F}"/>
              </a:ext>
            </a:extLst>
          </p:cNvPr>
          <p:cNvPicPr>
            <a:picLocks noChangeAspect="1"/>
          </p:cNvPicPr>
          <p:nvPr/>
        </p:nvPicPr>
        <p:blipFill>
          <a:blip r:embed="rId4"/>
          <a:stretch>
            <a:fillRect/>
          </a:stretch>
        </p:blipFill>
        <p:spPr>
          <a:xfrm>
            <a:off x="735254" y="3892505"/>
            <a:ext cx="4951013" cy="2754086"/>
          </a:xfrm>
          <a:prstGeom prst="rect">
            <a:avLst/>
          </a:prstGeom>
        </p:spPr>
      </p:pic>
      <p:pic>
        <p:nvPicPr>
          <p:cNvPr id="9" name="Kép 8">
            <a:extLst>
              <a:ext uri="{FF2B5EF4-FFF2-40B4-BE49-F238E27FC236}">
                <a16:creationId xmlns:a16="http://schemas.microsoft.com/office/drawing/2014/main" id="{AC7608FD-3A7A-1EC1-FF0B-311F3CD74473}"/>
              </a:ext>
            </a:extLst>
          </p:cNvPr>
          <p:cNvPicPr>
            <a:picLocks noChangeAspect="1"/>
          </p:cNvPicPr>
          <p:nvPr/>
        </p:nvPicPr>
        <p:blipFill>
          <a:blip r:embed="rId5"/>
          <a:stretch>
            <a:fillRect/>
          </a:stretch>
        </p:blipFill>
        <p:spPr>
          <a:xfrm>
            <a:off x="1857828" y="1287071"/>
            <a:ext cx="2707336" cy="2508344"/>
          </a:xfrm>
          <a:prstGeom prst="rect">
            <a:avLst/>
          </a:prstGeom>
        </p:spPr>
      </p:pic>
    </p:spTree>
    <p:extLst>
      <p:ext uri="{BB962C8B-B14F-4D97-AF65-F5344CB8AC3E}">
        <p14:creationId xmlns:p14="http://schemas.microsoft.com/office/powerpoint/2010/main" val="2332962734"/>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747F3A23-CD6E-108A-F442-94F495BCBF5E}"/>
              </a:ext>
            </a:extLst>
          </p:cNvPr>
          <p:cNvSpPr>
            <a:spLocks noGrp="1"/>
          </p:cNvSpPr>
          <p:nvPr>
            <p:ph type="title"/>
          </p:nvPr>
        </p:nvSpPr>
        <p:spPr>
          <a:xfrm>
            <a:off x="489404" y="651752"/>
            <a:ext cx="11210925" cy="744836"/>
          </a:xfrm>
        </p:spPr>
        <p:txBody>
          <a:bodyPr vert="horz" lIns="91440" tIns="45720" rIns="91440" bIns="45720" rtlCol="0" anchor="ctr">
            <a:normAutofit/>
          </a:bodyPr>
          <a:lstStyle/>
          <a:p>
            <a:pPr algn="ctr"/>
            <a:r>
              <a:rPr lang="en-US" sz="3200" b="1" kern="1200" dirty="0">
                <a:solidFill>
                  <a:schemeClr val="bg1"/>
                </a:solidFill>
                <a:latin typeface="+mj-lt"/>
                <a:ea typeface="+mj-ea"/>
                <a:cs typeface="+mj-cs"/>
              </a:rPr>
              <a:t>Database Plan</a:t>
            </a:r>
          </a:p>
        </p:txBody>
      </p:sp>
      <p:pic>
        <p:nvPicPr>
          <p:cNvPr id="5" name="Kép 4" descr="A képen szöveg, képernyőkép, diagram, szám látható&#10;&#10;Lehet, hogy a mesterséges intelligencia által generált tartalom helytelen.">
            <a:extLst>
              <a:ext uri="{FF2B5EF4-FFF2-40B4-BE49-F238E27FC236}">
                <a16:creationId xmlns:a16="http://schemas.microsoft.com/office/drawing/2014/main" id="{07A4A468-A42F-AA4E-944B-463E84F2F5A7}"/>
              </a:ext>
            </a:extLst>
          </p:cNvPr>
          <p:cNvPicPr>
            <a:picLocks noChangeAspect="1"/>
          </p:cNvPicPr>
          <p:nvPr/>
        </p:nvPicPr>
        <p:blipFill>
          <a:blip r:embed="rId3"/>
          <a:stretch>
            <a:fillRect/>
          </a:stretch>
        </p:blipFill>
        <p:spPr>
          <a:xfrm>
            <a:off x="1354971" y="1612432"/>
            <a:ext cx="9479793" cy="4913744"/>
          </a:xfrm>
          <a:prstGeom prst="rect">
            <a:avLst/>
          </a:prstGeom>
        </p:spPr>
      </p:pic>
    </p:spTree>
    <p:extLst>
      <p:ext uri="{BB962C8B-B14F-4D97-AF65-F5344CB8AC3E}">
        <p14:creationId xmlns:p14="http://schemas.microsoft.com/office/powerpoint/2010/main" val="159987642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9" name="Rectangle 2068">
            <a:extLst>
              <a:ext uri="{FF2B5EF4-FFF2-40B4-BE49-F238E27FC236}">
                <a16:creationId xmlns:a16="http://schemas.microsoft.com/office/drawing/2014/main" id="{0EFD753D-6A49-46DD-9E82-AA6E2C62B4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1" name="Rectangle 2070">
            <a:extLst>
              <a:ext uri="{FF2B5EF4-FFF2-40B4-BE49-F238E27FC236}">
                <a16:creationId xmlns:a16="http://schemas.microsoft.com/office/drawing/2014/main" id="{138A5824-1F4A-4EE7-BC13-5BB48FC080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044" y="321732"/>
            <a:ext cx="4568741" cy="6192603"/>
          </a:xfrm>
          <a:prstGeom prst="rect">
            <a:avLst/>
          </a:prstGeom>
          <a:solidFill>
            <a:srgbClr val="333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Cím 1">
            <a:extLst>
              <a:ext uri="{FF2B5EF4-FFF2-40B4-BE49-F238E27FC236}">
                <a16:creationId xmlns:a16="http://schemas.microsoft.com/office/drawing/2014/main" id="{0CD7DB55-00D5-C7AD-588D-98C1AED857E2}"/>
              </a:ext>
            </a:extLst>
          </p:cNvPr>
          <p:cNvSpPr>
            <a:spLocks noGrp="1"/>
          </p:cNvSpPr>
          <p:nvPr>
            <p:ph type="title"/>
          </p:nvPr>
        </p:nvSpPr>
        <p:spPr>
          <a:xfrm>
            <a:off x="797290" y="-21933"/>
            <a:ext cx="3608896" cy="1690993"/>
          </a:xfrm>
        </p:spPr>
        <p:txBody>
          <a:bodyPr anchor="b">
            <a:normAutofit/>
          </a:bodyPr>
          <a:lstStyle/>
          <a:p>
            <a:r>
              <a:rPr lang="hu-HU" sz="3600" dirty="0" err="1">
                <a:solidFill>
                  <a:srgbClr val="FFFFFF"/>
                </a:solidFill>
              </a:rPr>
              <a:t>Technology</a:t>
            </a:r>
            <a:r>
              <a:rPr lang="hu-HU" sz="3600" dirty="0">
                <a:solidFill>
                  <a:srgbClr val="FFFFFF"/>
                </a:solidFill>
              </a:rPr>
              <a:t> </a:t>
            </a:r>
            <a:r>
              <a:rPr lang="hu-HU" sz="3600" dirty="0" err="1">
                <a:solidFill>
                  <a:srgbClr val="FFFFFF"/>
                </a:solidFill>
              </a:rPr>
              <a:t>Stack</a:t>
            </a:r>
            <a:endParaRPr lang="hu-HU" sz="3600" dirty="0">
              <a:solidFill>
                <a:srgbClr val="FFFFFF"/>
              </a:solidFill>
            </a:endParaRPr>
          </a:p>
        </p:txBody>
      </p:sp>
      <p:pic>
        <p:nvPicPr>
          <p:cNvPr id="2052" name="Picture 4" descr="MySQL logo and symbol, meaning, history, PNG">
            <a:extLst>
              <a:ext uri="{FF2B5EF4-FFF2-40B4-BE49-F238E27FC236}">
                <a16:creationId xmlns:a16="http://schemas.microsoft.com/office/drawing/2014/main" id="{A2DFC369-5FF5-17AF-8491-BDBB6D84E24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277976" y="325905"/>
            <a:ext cx="2965247" cy="185387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JavaScript – Wikipédia">
            <a:extLst>
              <a:ext uri="{FF2B5EF4-FFF2-40B4-BE49-F238E27FC236}">
                <a16:creationId xmlns:a16="http://schemas.microsoft.com/office/drawing/2014/main" id="{B91F2D21-9CCE-B47F-1155-71E3B93F707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9354398" y="325905"/>
            <a:ext cx="1853874" cy="1853874"/>
          </a:xfrm>
          <a:prstGeom prst="rect">
            <a:avLst/>
          </a:prstGeom>
          <a:noFill/>
          <a:extLst>
            <a:ext uri="{909E8E84-426E-40DD-AFC4-6F175D3DCCD1}">
              <a14:hiddenFill xmlns:a14="http://schemas.microsoft.com/office/drawing/2010/main">
                <a:solidFill>
                  <a:srgbClr val="FFFFFF"/>
                </a:solidFill>
              </a14:hiddenFill>
            </a:ext>
          </a:extLst>
        </p:spPr>
      </p:pic>
      <p:sp>
        <p:nvSpPr>
          <p:cNvPr id="3" name="Tartalom helye 2">
            <a:extLst>
              <a:ext uri="{FF2B5EF4-FFF2-40B4-BE49-F238E27FC236}">
                <a16:creationId xmlns:a16="http://schemas.microsoft.com/office/drawing/2014/main" id="{399CF3D5-D16D-0A29-17DA-9F8C562DBD5E}"/>
              </a:ext>
            </a:extLst>
          </p:cNvPr>
          <p:cNvSpPr>
            <a:spLocks noGrp="1"/>
          </p:cNvSpPr>
          <p:nvPr>
            <p:ph idx="1"/>
          </p:nvPr>
        </p:nvSpPr>
        <p:spPr>
          <a:xfrm>
            <a:off x="798256" y="2067339"/>
            <a:ext cx="3607930" cy="4084079"/>
          </a:xfrm>
        </p:spPr>
        <p:txBody>
          <a:bodyPr anchor="t">
            <a:normAutofit fontScale="55000" lnSpcReduction="20000"/>
          </a:bodyPr>
          <a:lstStyle/>
          <a:p>
            <a:pPr marL="0" indent="0">
              <a:buNone/>
            </a:pPr>
            <a:r>
              <a:rPr lang="hu-HU" sz="3800" b="1" dirty="0">
                <a:solidFill>
                  <a:srgbClr val="FFFFFF"/>
                </a:solidFill>
              </a:rPr>
              <a:t>Frontend</a:t>
            </a:r>
            <a:r>
              <a:rPr lang="hu-HU" sz="3800" dirty="0">
                <a:solidFill>
                  <a:srgbClr val="FFFFFF"/>
                </a:solidFill>
              </a:rPr>
              <a:t>:</a:t>
            </a:r>
          </a:p>
          <a:p>
            <a:r>
              <a:rPr lang="hu-HU" sz="2500" dirty="0">
                <a:solidFill>
                  <a:srgbClr val="FFFFFF"/>
                </a:solidFill>
              </a:rPr>
              <a:t>HTML</a:t>
            </a:r>
          </a:p>
          <a:p>
            <a:r>
              <a:rPr lang="hu-HU" sz="2500" dirty="0">
                <a:solidFill>
                  <a:srgbClr val="FFFFFF"/>
                </a:solidFill>
              </a:rPr>
              <a:t>JavaScript</a:t>
            </a:r>
          </a:p>
          <a:p>
            <a:r>
              <a:rPr lang="hu-HU" sz="2500" dirty="0">
                <a:solidFill>
                  <a:srgbClr val="FFFFFF"/>
                </a:solidFill>
              </a:rPr>
              <a:t>CSS</a:t>
            </a:r>
          </a:p>
          <a:p>
            <a:r>
              <a:rPr lang="hu-HU" sz="2500" dirty="0" err="1">
                <a:solidFill>
                  <a:srgbClr val="FFFFFF"/>
                </a:solidFill>
              </a:rPr>
              <a:t>Bootstrap</a:t>
            </a:r>
            <a:endParaRPr lang="hu-HU" sz="2500" dirty="0">
              <a:solidFill>
                <a:srgbClr val="FFFFFF"/>
              </a:solidFill>
            </a:endParaRPr>
          </a:p>
          <a:p>
            <a:pPr marL="0" indent="0">
              <a:buNone/>
            </a:pPr>
            <a:endParaRPr lang="hu-HU" sz="2000" dirty="0">
              <a:solidFill>
                <a:srgbClr val="FFFFFF"/>
              </a:solidFill>
            </a:endParaRPr>
          </a:p>
          <a:p>
            <a:pPr marL="0" indent="0">
              <a:buNone/>
            </a:pPr>
            <a:r>
              <a:rPr lang="hu-HU" sz="3800" b="1" dirty="0">
                <a:solidFill>
                  <a:srgbClr val="FFFFFF"/>
                </a:solidFill>
              </a:rPr>
              <a:t>Backend:</a:t>
            </a:r>
          </a:p>
          <a:p>
            <a:r>
              <a:rPr lang="hu-HU" sz="2500" dirty="0">
                <a:solidFill>
                  <a:srgbClr val="FFFFFF"/>
                </a:solidFill>
              </a:rPr>
              <a:t> PHP</a:t>
            </a:r>
          </a:p>
          <a:p>
            <a:r>
              <a:rPr lang="hu-HU" sz="2500" dirty="0">
                <a:solidFill>
                  <a:srgbClr val="FFFFFF"/>
                </a:solidFill>
              </a:rPr>
              <a:t> </a:t>
            </a:r>
            <a:r>
              <a:rPr lang="hu-HU" sz="2500" dirty="0" err="1">
                <a:solidFill>
                  <a:srgbClr val="FFFFFF"/>
                </a:solidFill>
              </a:rPr>
              <a:t>MySQL</a:t>
            </a:r>
            <a:endParaRPr lang="hu-HU" sz="2500" dirty="0">
              <a:solidFill>
                <a:srgbClr val="FFFFFF"/>
              </a:solidFill>
            </a:endParaRPr>
          </a:p>
          <a:p>
            <a:pPr marL="0" indent="0">
              <a:buNone/>
            </a:pPr>
            <a:endParaRPr lang="hu-HU" sz="2000" dirty="0">
              <a:solidFill>
                <a:srgbClr val="FFFFFF"/>
              </a:solidFill>
            </a:endParaRPr>
          </a:p>
          <a:p>
            <a:pPr marL="0" indent="0">
              <a:buNone/>
            </a:pPr>
            <a:r>
              <a:rPr lang="hu-HU" sz="3800" b="1" dirty="0" err="1">
                <a:solidFill>
                  <a:srgbClr val="FFFFFF"/>
                </a:solidFill>
              </a:rPr>
              <a:t>Development</a:t>
            </a:r>
            <a:r>
              <a:rPr lang="hu-HU" sz="3800" b="1" dirty="0">
                <a:solidFill>
                  <a:srgbClr val="FFFFFF"/>
                </a:solidFill>
              </a:rPr>
              <a:t> </a:t>
            </a:r>
            <a:r>
              <a:rPr lang="hu-HU" sz="3800" b="1" dirty="0" err="1">
                <a:solidFill>
                  <a:srgbClr val="FFFFFF"/>
                </a:solidFill>
              </a:rPr>
              <a:t>Environment</a:t>
            </a:r>
            <a:r>
              <a:rPr lang="hu-HU" sz="3800" b="1" dirty="0">
                <a:solidFill>
                  <a:srgbClr val="FFFFFF"/>
                </a:solidFill>
              </a:rPr>
              <a:t>:</a:t>
            </a:r>
            <a:endParaRPr lang="hu-HU" sz="3800" dirty="0">
              <a:solidFill>
                <a:srgbClr val="FFFFFF"/>
              </a:solidFill>
            </a:endParaRPr>
          </a:p>
          <a:p>
            <a:r>
              <a:rPr lang="hu-HU" sz="2200" dirty="0">
                <a:solidFill>
                  <a:srgbClr val="FFFFFF"/>
                </a:solidFill>
              </a:rPr>
              <a:t>Visual </a:t>
            </a:r>
            <a:r>
              <a:rPr lang="hu-HU" sz="2200" dirty="0" err="1">
                <a:solidFill>
                  <a:srgbClr val="FFFFFF"/>
                </a:solidFill>
              </a:rPr>
              <a:t>Studio</a:t>
            </a:r>
            <a:r>
              <a:rPr lang="hu-HU" sz="2200" dirty="0">
                <a:solidFill>
                  <a:srgbClr val="FFFFFF"/>
                </a:solidFill>
              </a:rPr>
              <a:t> </a:t>
            </a:r>
            <a:r>
              <a:rPr lang="hu-HU" sz="2200" dirty="0" err="1">
                <a:solidFill>
                  <a:srgbClr val="FFFFFF"/>
                </a:solidFill>
              </a:rPr>
              <a:t>Code</a:t>
            </a:r>
            <a:endParaRPr lang="hu-HU" sz="2200" dirty="0">
              <a:solidFill>
                <a:srgbClr val="FFFFFF"/>
              </a:solidFill>
            </a:endParaRPr>
          </a:p>
          <a:p>
            <a:r>
              <a:rPr lang="hu-HU" sz="2200" dirty="0">
                <a:solidFill>
                  <a:srgbClr val="FFFFFF"/>
                </a:solidFill>
              </a:rPr>
              <a:t>MAMP local server</a:t>
            </a:r>
          </a:p>
        </p:txBody>
      </p:sp>
      <p:pic>
        <p:nvPicPr>
          <p:cNvPr id="2050" name="Picture 2" descr="PHP - Wikipedia">
            <a:extLst>
              <a:ext uri="{FF2B5EF4-FFF2-40B4-BE49-F238E27FC236}">
                <a16:creationId xmlns:a16="http://schemas.microsoft.com/office/drawing/2014/main" id="{ADCE6A75-F796-99DE-2AA9-5E194C9C3C3B}"/>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5155081" y="2559607"/>
            <a:ext cx="3219976" cy="1738786"/>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Css 3 - Free technology icons">
            <a:extLst>
              <a:ext uri="{FF2B5EF4-FFF2-40B4-BE49-F238E27FC236}">
                <a16:creationId xmlns:a16="http://schemas.microsoft.com/office/drawing/2014/main" id="{EEB86311-C3FB-9018-579E-B032D231EE74}"/>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9369832" y="2503952"/>
            <a:ext cx="1850097" cy="1850097"/>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Bootstrap (front-end framework) - Wikipedia">
            <a:extLst>
              <a:ext uri="{FF2B5EF4-FFF2-40B4-BE49-F238E27FC236}">
                <a16:creationId xmlns:a16="http://schemas.microsoft.com/office/drawing/2014/main" id="{37BA6F3A-2E42-99F9-C0C8-24716773ADAB}"/>
              </a:ext>
            </a:extLst>
          </p:cNvPr>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7648700" y="4643521"/>
            <a:ext cx="2344014" cy="1869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3092763"/>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70155189-D96C-4527-B0EC-654B946BE6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A1DD89C7-C258-9A3B-7A28-FA1BC8F822A6}"/>
              </a:ext>
            </a:extLst>
          </p:cNvPr>
          <p:cNvSpPr>
            <a:spLocks noGrp="1"/>
          </p:cNvSpPr>
          <p:nvPr>
            <p:ph type="title"/>
          </p:nvPr>
        </p:nvSpPr>
        <p:spPr>
          <a:xfrm>
            <a:off x="624971" y="137731"/>
            <a:ext cx="10515600" cy="2057043"/>
          </a:xfrm>
        </p:spPr>
        <p:txBody>
          <a:bodyPr vert="horz" lIns="91440" tIns="45720" rIns="91440" bIns="45720" rtlCol="0" anchor="ctr">
            <a:normAutofit/>
          </a:bodyPr>
          <a:lstStyle/>
          <a:p>
            <a:r>
              <a:rPr lang="hu-HU" sz="5200" b="1" kern="1200" dirty="0">
                <a:solidFill>
                  <a:schemeClr val="tx1"/>
                </a:solidFill>
                <a:latin typeface="+mj-lt"/>
                <a:ea typeface="+mj-ea"/>
                <a:cs typeface="+mj-cs"/>
              </a:rPr>
              <a:t>Tamás </a:t>
            </a:r>
            <a:r>
              <a:rPr lang="en-US" sz="5200" b="1" kern="1200" dirty="0">
                <a:solidFill>
                  <a:schemeClr val="tx1"/>
                </a:solidFill>
                <a:latin typeface="+mj-lt"/>
                <a:ea typeface="+mj-ea"/>
                <a:cs typeface="+mj-cs"/>
              </a:rPr>
              <a:t>Git </a:t>
            </a:r>
            <a:r>
              <a:rPr lang="hu-HU" sz="5200" b="1" dirty="0"/>
              <a:t>W</a:t>
            </a:r>
            <a:r>
              <a:rPr lang="en-US" sz="5200" b="1" kern="1200" dirty="0" err="1">
                <a:solidFill>
                  <a:schemeClr val="tx1"/>
                </a:solidFill>
                <a:latin typeface="+mj-lt"/>
                <a:ea typeface="+mj-ea"/>
                <a:cs typeface="+mj-cs"/>
              </a:rPr>
              <a:t>orkflow</a:t>
            </a:r>
            <a:endParaRPr lang="en-US" sz="5200" b="1" kern="1200" dirty="0">
              <a:solidFill>
                <a:schemeClr val="tx1"/>
              </a:solidFill>
              <a:latin typeface="+mj-lt"/>
              <a:ea typeface="+mj-ea"/>
              <a:cs typeface="+mj-cs"/>
            </a:endParaRPr>
          </a:p>
        </p:txBody>
      </p:sp>
      <p:pic>
        <p:nvPicPr>
          <p:cNvPr id="11" name="Kép 10">
            <a:extLst>
              <a:ext uri="{FF2B5EF4-FFF2-40B4-BE49-F238E27FC236}">
                <a16:creationId xmlns:a16="http://schemas.microsoft.com/office/drawing/2014/main" id="{6CB68F89-F9FB-3428-9DAF-A2CD5BFAAF06}"/>
              </a:ext>
            </a:extLst>
          </p:cNvPr>
          <p:cNvPicPr>
            <a:picLocks noChangeAspect="1"/>
          </p:cNvPicPr>
          <p:nvPr/>
        </p:nvPicPr>
        <p:blipFill>
          <a:blip r:embed="rId3"/>
          <a:stretch>
            <a:fillRect/>
          </a:stretch>
        </p:blipFill>
        <p:spPr>
          <a:xfrm>
            <a:off x="6921624" y="3220449"/>
            <a:ext cx="4432176" cy="3080362"/>
          </a:xfrm>
          <a:prstGeom prst="rect">
            <a:avLst/>
          </a:prstGeom>
        </p:spPr>
      </p:pic>
      <p:pic>
        <p:nvPicPr>
          <p:cNvPr id="9" name="Tartalom helye 8">
            <a:extLst>
              <a:ext uri="{FF2B5EF4-FFF2-40B4-BE49-F238E27FC236}">
                <a16:creationId xmlns:a16="http://schemas.microsoft.com/office/drawing/2014/main" id="{D888BDD9-8D09-95A3-8B0D-93BB3C53EFC7}"/>
              </a:ext>
            </a:extLst>
          </p:cNvPr>
          <p:cNvPicPr>
            <a:picLocks noGrp="1" noChangeAspect="1"/>
          </p:cNvPicPr>
          <p:nvPr>
            <p:ph idx="1"/>
          </p:nvPr>
        </p:nvPicPr>
        <p:blipFill>
          <a:blip r:embed="rId4"/>
          <a:stretch>
            <a:fillRect/>
          </a:stretch>
        </p:blipFill>
        <p:spPr>
          <a:xfrm>
            <a:off x="6921624" y="130841"/>
            <a:ext cx="4432176" cy="3069281"/>
          </a:xfrm>
          <a:prstGeom prst="rect">
            <a:avLst/>
          </a:prstGeom>
        </p:spPr>
      </p:pic>
      <p:pic>
        <p:nvPicPr>
          <p:cNvPr id="5" name="Kép 4">
            <a:extLst>
              <a:ext uri="{FF2B5EF4-FFF2-40B4-BE49-F238E27FC236}">
                <a16:creationId xmlns:a16="http://schemas.microsoft.com/office/drawing/2014/main" id="{E8555024-1190-0474-B0FE-9876219A2315}"/>
              </a:ext>
            </a:extLst>
          </p:cNvPr>
          <p:cNvPicPr>
            <a:picLocks noChangeAspect="1"/>
          </p:cNvPicPr>
          <p:nvPr/>
        </p:nvPicPr>
        <p:blipFill>
          <a:blip r:embed="rId5"/>
          <a:stretch>
            <a:fillRect/>
          </a:stretch>
        </p:blipFill>
        <p:spPr>
          <a:xfrm>
            <a:off x="1534736" y="1422945"/>
            <a:ext cx="4348035" cy="5080735"/>
          </a:xfrm>
          <a:prstGeom prst="rect">
            <a:avLst/>
          </a:prstGeom>
        </p:spPr>
      </p:pic>
      <p:pic>
        <p:nvPicPr>
          <p:cNvPr id="8" name="Kép 7">
            <a:extLst>
              <a:ext uri="{FF2B5EF4-FFF2-40B4-BE49-F238E27FC236}">
                <a16:creationId xmlns:a16="http://schemas.microsoft.com/office/drawing/2014/main" id="{494C054B-08FE-2EE1-F6E2-FD05B57D8389}"/>
              </a:ext>
            </a:extLst>
          </p:cNvPr>
          <p:cNvPicPr>
            <a:picLocks noChangeAspect="1"/>
          </p:cNvPicPr>
          <p:nvPr/>
        </p:nvPicPr>
        <p:blipFill>
          <a:blip r:embed="rId6"/>
          <a:stretch>
            <a:fillRect/>
          </a:stretch>
        </p:blipFill>
        <p:spPr>
          <a:xfrm>
            <a:off x="1705141" y="6416325"/>
            <a:ext cx="3876675" cy="371475"/>
          </a:xfrm>
          <a:prstGeom prst="rect">
            <a:avLst/>
          </a:prstGeom>
        </p:spPr>
      </p:pic>
    </p:spTree>
    <p:extLst>
      <p:ext uri="{BB962C8B-B14F-4D97-AF65-F5344CB8AC3E}">
        <p14:creationId xmlns:p14="http://schemas.microsoft.com/office/powerpoint/2010/main" val="1049558736"/>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0155189-D96C-4527-B0EC-654B946BE6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E9529646-DA5B-D3E8-4FB2-533C041D7B2C}"/>
              </a:ext>
            </a:extLst>
          </p:cNvPr>
          <p:cNvSpPr>
            <a:spLocks noGrp="1"/>
          </p:cNvSpPr>
          <p:nvPr>
            <p:ph type="title"/>
          </p:nvPr>
        </p:nvSpPr>
        <p:spPr>
          <a:xfrm>
            <a:off x="838200" y="557189"/>
            <a:ext cx="10515600" cy="2057043"/>
          </a:xfrm>
        </p:spPr>
        <p:txBody>
          <a:bodyPr vert="horz" lIns="91440" tIns="45720" rIns="91440" bIns="45720" rtlCol="0" anchor="ctr">
            <a:normAutofit/>
          </a:bodyPr>
          <a:lstStyle/>
          <a:p>
            <a:r>
              <a:rPr lang="en-US" sz="5200" b="1" kern="1200" dirty="0" err="1">
                <a:solidFill>
                  <a:schemeClr val="tx1"/>
                </a:solidFill>
                <a:latin typeface="+mj-lt"/>
                <a:ea typeface="+mj-ea"/>
                <a:cs typeface="+mj-cs"/>
              </a:rPr>
              <a:t>Kristóf</a:t>
            </a:r>
            <a:r>
              <a:rPr lang="en-US" sz="5200" b="1" kern="1200" dirty="0">
                <a:solidFill>
                  <a:schemeClr val="tx1"/>
                </a:solidFill>
                <a:latin typeface="+mj-lt"/>
                <a:ea typeface="+mj-ea"/>
                <a:cs typeface="+mj-cs"/>
              </a:rPr>
              <a:t> Git Workflow</a:t>
            </a:r>
          </a:p>
        </p:txBody>
      </p:sp>
      <p:pic>
        <p:nvPicPr>
          <p:cNvPr id="7" name="Kép 6">
            <a:extLst>
              <a:ext uri="{FF2B5EF4-FFF2-40B4-BE49-F238E27FC236}">
                <a16:creationId xmlns:a16="http://schemas.microsoft.com/office/drawing/2014/main" id="{A5045B6A-1093-8475-5922-8CA2D05B0E05}"/>
              </a:ext>
            </a:extLst>
          </p:cNvPr>
          <p:cNvPicPr>
            <a:picLocks noChangeAspect="1"/>
          </p:cNvPicPr>
          <p:nvPr/>
        </p:nvPicPr>
        <p:blipFill>
          <a:blip r:embed="rId3"/>
          <a:stretch>
            <a:fillRect/>
          </a:stretch>
        </p:blipFill>
        <p:spPr>
          <a:xfrm>
            <a:off x="5915606" y="3736767"/>
            <a:ext cx="4834385" cy="2586396"/>
          </a:xfrm>
          <a:prstGeom prst="rect">
            <a:avLst/>
          </a:prstGeom>
        </p:spPr>
      </p:pic>
      <p:pic>
        <p:nvPicPr>
          <p:cNvPr id="5" name="Tartalom helye 4">
            <a:extLst>
              <a:ext uri="{FF2B5EF4-FFF2-40B4-BE49-F238E27FC236}">
                <a16:creationId xmlns:a16="http://schemas.microsoft.com/office/drawing/2014/main" id="{B426C43C-2679-34A9-77BF-9267DA8BF875}"/>
              </a:ext>
            </a:extLst>
          </p:cNvPr>
          <p:cNvPicPr>
            <a:picLocks noGrp="1" noChangeAspect="1"/>
          </p:cNvPicPr>
          <p:nvPr>
            <p:ph idx="1"/>
          </p:nvPr>
        </p:nvPicPr>
        <p:blipFill>
          <a:blip r:embed="rId4"/>
          <a:stretch>
            <a:fillRect/>
          </a:stretch>
        </p:blipFill>
        <p:spPr>
          <a:xfrm>
            <a:off x="5909970" y="2312287"/>
            <a:ext cx="4845656" cy="1138728"/>
          </a:xfrm>
          <a:prstGeom prst="rect">
            <a:avLst/>
          </a:prstGeom>
        </p:spPr>
      </p:pic>
      <p:pic>
        <p:nvPicPr>
          <p:cNvPr id="8" name="Kép 7">
            <a:extLst>
              <a:ext uri="{FF2B5EF4-FFF2-40B4-BE49-F238E27FC236}">
                <a16:creationId xmlns:a16="http://schemas.microsoft.com/office/drawing/2014/main" id="{26F45B13-1B07-AEB6-9E01-05274B872E9F}"/>
              </a:ext>
            </a:extLst>
          </p:cNvPr>
          <p:cNvPicPr>
            <a:picLocks noChangeAspect="1"/>
          </p:cNvPicPr>
          <p:nvPr/>
        </p:nvPicPr>
        <p:blipFill>
          <a:blip r:embed="rId5"/>
          <a:stretch>
            <a:fillRect/>
          </a:stretch>
        </p:blipFill>
        <p:spPr>
          <a:xfrm>
            <a:off x="1338081" y="1856923"/>
            <a:ext cx="4072008" cy="4507984"/>
          </a:xfrm>
          <a:prstGeom prst="rect">
            <a:avLst/>
          </a:prstGeom>
        </p:spPr>
      </p:pic>
      <p:pic>
        <p:nvPicPr>
          <p:cNvPr id="13" name="Kép 12">
            <a:extLst>
              <a:ext uri="{FF2B5EF4-FFF2-40B4-BE49-F238E27FC236}">
                <a16:creationId xmlns:a16="http://schemas.microsoft.com/office/drawing/2014/main" id="{E0C04CE3-A02F-D753-A171-B4233D0B19CB}"/>
              </a:ext>
            </a:extLst>
          </p:cNvPr>
          <p:cNvPicPr>
            <a:picLocks noChangeAspect="1"/>
          </p:cNvPicPr>
          <p:nvPr/>
        </p:nvPicPr>
        <p:blipFill>
          <a:blip r:embed="rId6"/>
          <a:stretch>
            <a:fillRect/>
          </a:stretch>
        </p:blipFill>
        <p:spPr>
          <a:xfrm>
            <a:off x="1746139" y="6323163"/>
            <a:ext cx="3493771" cy="395223"/>
          </a:xfrm>
          <a:prstGeom prst="rect">
            <a:avLst/>
          </a:prstGeom>
        </p:spPr>
      </p:pic>
    </p:spTree>
    <p:extLst>
      <p:ext uri="{BB962C8B-B14F-4D97-AF65-F5344CB8AC3E}">
        <p14:creationId xmlns:p14="http://schemas.microsoft.com/office/powerpoint/2010/main" val="3027542387"/>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AA39E93-5A86-40F9-718A-24CE4532B840}"/>
              </a:ext>
            </a:extLst>
          </p:cNvPr>
          <p:cNvSpPr>
            <a:spLocks noGrp="1"/>
          </p:cNvSpPr>
          <p:nvPr>
            <p:ph type="title"/>
          </p:nvPr>
        </p:nvSpPr>
        <p:spPr/>
        <p:txBody>
          <a:bodyPr/>
          <a:lstStyle/>
          <a:p>
            <a:r>
              <a:rPr lang="hu-HU" b="1" dirty="0"/>
              <a:t>Ricsi </a:t>
            </a:r>
            <a:r>
              <a:rPr lang="hu-HU" b="1" dirty="0" err="1"/>
              <a:t>Git</a:t>
            </a:r>
            <a:r>
              <a:rPr lang="hu-HU" b="1" dirty="0"/>
              <a:t> </a:t>
            </a:r>
            <a:r>
              <a:rPr lang="hu-HU" b="1" dirty="0" err="1"/>
              <a:t>Workflow</a:t>
            </a:r>
            <a:endParaRPr lang="hu-HU" b="1" dirty="0"/>
          </a:p>
        </p:txBody>
      </p:sp>
      <p:pic>
        <p:nvPicPr>
          <p:cNvPr id="5" name="Kép 4">
            <a:extLst>
              <a:ext uri="{FF2B5EF4-FFF2-40B4-BE49-F238E27FC236}">
                <a16:creationId xmlns:a16="http://schemas.microsoft.com/office/drawing/2014/main" id="{0AA6359F-0120-2CB7-8DB3-BD72CB09C8CA}"/>
              </a:ext>
            </a:extLst>
          </p:cNvPr>
          <p:cNvPicPr>
            <a:picLocks noChangeAspect="1"/>
          </p:cNvPicPr>
          <p:nvPr/>
        </p:nvPicPr>
        <p:blipFill>
          <a:blip r:embed="rId2"/>
          <a:stretch>
            <a:fillRect/>
          </a:stretch>
        </p:blipFill>
        <p:spPr>
          <a:xfrm>
            <a:off x="2556523" y="1825625"/>
            <a:ext cx="7078954" cy="3512198"/>
          </a:xfrm>
          <a:prstGeom prst="rect">
            <a:avLst/>
          </a:prstGeom>
        </p:spPr>
      </p:pic>
    </p:spTree>
    <p:extLst>
      <p:ext uri="{BB962C8B-B14F-4D97-AF65-F5344CB8AC3E}">
        <p14:creationId xmlns:p14="http://schemas.microsoft.com/office/powerpoint/2010/main" val="3051672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2BA373B0-22AA-31AD-1AC2-4D4463538890}"/>
              </a:ext>
            </a:extLst>
          </p:cNvPr>
          <p:cNvSpPr>
            <a:spLocks noGrp="1"/>
          </p:cNvSpPr>
          <p:nvPr>
            <p:ph type="title"/>
          </p:nvPr>
        </p:nvSpPr>
        <p:spPr/>
        <p:txBody>
          <a:bodyPr/>
          <a:lstStyle/>
          <a:p>
            <a:pPr algn="ctr"/>
            <a:r>
              <a:rPr lang="hu-HU" b="1" dirty="0" err="1"/>
              <a:t>Jira</a:t>
            </a:r>
            <a:r>
              <a:rPr lang="hu-HU" b="1" dirty="0"/>
              <a:t> </a:t>
            </a:r>
            <a:r>
              <a:rPr lang="hu-HU" b="1" dirty="0" err="1"/>
              <a:t>work</a:t>
            </a:r>
            <a:r>
              <a:rPr lang="hu-HU" b="1" dirty="0"/>
              <a:t> </a:t>
            </a:r>
            <a:r>
              <a:rPr lang="hu-HU" b="1" dirty="0" err="1"/>
              <a:t>share</a:t>
            </a:r>
            <a:endParaRPr lang="hu-HU" b="1" dirty="0"/>
          </a:p>
        </p:txBody>
      </p:sp>
      <p:graphicFrame>
        <p:nvGraphicFramePr>
          <p:cNvPr id="6" name="Tartalom helye 5">
            <a:extLst>
              <a:ext uri="{FF2B5EF4-FFF2-40B4-BE49-F238E27FC236}">
                <a16:creationId xmlns:a16="http://schemas.microsoft.com/office/drawing/2014/main" id="{F87EEC22-CAF5-3026-DD88-A0DC7386821B}"/>
              </a:ext>
            </a:extLst>
          </p:cNvPr>
          <p:cNvGraphicFramePr>
            <a:graphicFrameLocks noGrp="1"/>
          </p:cNvGraphicFramePr>
          <p:nvPr>
            <p:ph idx="1"/>
            <p:extLst>
              <p:ext uri="{D42A27DB-BD31-4B8C-83A1-F6EECF244321}">
                <p14:modId xmlns:p14="http://schemas.microsoft.com/office/powerpoint/2010/main" val="2044359991"/>
              </p:ext>
            </p:extLst>
          </p:nvPr>
        </p:nvGraphicFramePr>
        <p:xfrm>
          <a:off x="-1809585" y="1865382"/>
          <a:ext cx="10515600" cy="4351338"/>
        </p:xfrm>
        <a:graphic>
          <a:graphicData uri="http://schemas.openxmlformats.org/drawingml/2006/chart">
            <c:chart xmlns:c="http://schemas.openxmlformats.org/drawingml/2006/chart" xmlns:r="http://schemas.openxmlformats.org/officeDocument/2006/relationships" r:id="rId3"/>
          </a:graphicData>
        </a:graphic>
      </p:graphicFrame>
      <p:pic>
        <p:nvPicPr>
          <p:cNvPr id="4" name="Kép 3">
            <a:extLst>
              <a:ext uri="{FF2B5EF4-FFF2-40B4-BE49-F238E27FC236}">
                <a16:creationId xmlns:a16="http://schemas.microsoft.com/office/drawing/2014/main" id="{508E751F-22C2-A2E3-FCC1-62250BA49C89}"/>
              </a:ext>
            </a:extLst>
          </p:cNvPr>
          <p:cNvPicPr>
            <a:picLocks noChangeAspect="1"/>
          </p:cNvPicPr>
          <p:nvPr/>
        </p:nvPicPr>
        <p:blipFill>
          <a:blip r:embed="rId4"/>
          <a:stretch>
            <a:fillRect/>
          </a:stretch>
        </p:blipFill>
        <p:spPr>
          <a:xfrm>
            <a:off x="6808765" y="1865381"/>
            <a:ext cx="4139782" cy="4351339"/>
          </a:xfrm>
          <a:prstGeom prst="rect">
            <a:avLst/>
          </a:prstGeom>
        </p:spPr>
      </p:pic>
    </p:spTree>
    <p:extLst>
      <p:ext uri="{BB962C8B-B14F-4D97-AF65-F5344CB8AC3E}">
        <p14:creationId xmlns:p14="http://schemas.microsoft.com/office/powerpoint/2010/main" val="58572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B307F338-BDCE-11AD-8D31-EA0BEC9AA588}"/>
              </a:ext>
            </a:extLst>
          </p:cNvPr>
          <p:cNvSpPr>
            <a:spLocks noGrp="1"/>
          </p:cNvSpPr>
          <p:nvPr>
            <p:ph type="title"/>
          </p:nvPr>
        </p:nvSpPr>
        <p:spPr>
          <a:xfrm>
            <a:off x="1156851" y="637762"/>
            <a:ext cx="9888496" cy="900131"/>
          </a:xfrm>
        </p:spPr>
        <p:txBody>
          <a:bodyPr anchor="t">
            <a:normAutofit/>
          </a:bodyPr>
          <a:lstStyle/>
          <a:p>
            <a:pPr algn="ctr"/>
            <a:r>
              <a:rPr lang="hu-HU" sz="4000" b="1" dirty="0" err="1">
                <a:solidFill>
                  <a:schemeClr val="bg1"/>
                </a:solidFill>
              </a:rPr>
              <a:t>Potential</a:t>
            </a:r>
            <a:r>
              <a:rPr lang="hu-HU" sz="4000" b="1" dirty="0">
                <a:solidFill>
                  <a:schemeClr val="bg1"/>
                </a:solidFill>
              </a:rPr>
              <a:t> </a:t>
            </a:r>
            <a:r>
              <a:rPr lang="hu-HU" sz="4000" b="1" dirty="0" err="1">
                <a:solidFill>
                  <a:schemeClr val="bg1"/>
                </a:solidFill>
              </a:rPr>
              <a:t>Future</a:t>
            </a:r>
            <a:r>
              <a:rPr lang="hu-HU" sz="4000" b="1" dirty="0">
                <a:solidFill>
                  <a:schemeClr val="bg1"/>
                </a:solidFill>
              </a:rPr>
              <a:t> </a:t>
            </a:r>
            <a:r>
              <a:rPr lang="hu-HU" sz="4000" b="1" dirty="0" err="1">
                <a:solidFill>
                  <a:schemeClr val="bg1"/>
                </a:solidFill>
              </a:rPr>
              <a:t>Improvements</a:t>
            </a:r>
            <a:endParaRPr lang="hu-HU" sz="4000" b="1" dirty="0">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artalom helye 2">
            <a:extLst>
              <a:ext uri="{FF2B5EF4-FFF2-40B4-BE49-F238E27FC236}">
                <a16:creationId xmlns:a16="http://schemas.microsoft.com/office/drawing/2014/main" id="{652899DB-568A-2449-A470-27979CB66B4B}"/>
              </a:ext>
            </a:extLst>
          </p:cNvPr>
          <p:cNvSpPr>
            <a:spLocks noGrp="1"/>
          </p:cNvSpPr>
          <p:nvPr>
            <p:ph idx="1"/>
          </p:nvPr>
        </p:nvSpPr>
        <p:spPr>
          <a:xfrm>
            <a:off x="1155548" y="2217343"/>
            <a:ext cx="9880893" cy="3959619"/>
          </a:xfrm>
        </p:spPr>
        <p:txBody>
          <a:bodyPr vert="horz" lIns="91440" tIns="45720" rIns="91440" bIns="45720" rtlCol="0">
            <a:normAutofit/>
          </a:bodyPr>
          <a:lstStyle/>
          <a:p>
            <a:pPr algn="ctr"/>
            <a:r>
              <a:rPr lang="hu-HU" sz="3600" dirty="0"/>
              <a:t>Online </a:t>
            </a:r>
            <a:r>
              <a:rPr lang="hu-HU" sz="3600" dirty="0" err="1"/>
              <a:t>Payment</a:t>
            </a:r>
            <a:endParaRPr lang="hu-HU" sz="3600" dirty="0"/>
          </a:p>
          <a:p>
            <a:pPr algn="ctr"/>
            <a:r>
              <a:rPr lang="hu-HU" sz="3600" dirty="0">
                <a:latin typeface="Aptos"/>
              </a:rPr>
              <a:t>A</a:t>
            </a:r>
            <a:r>
              <a:rPr lang="en" sz="3600" dirty="0">
                <a:latin typeface="Aptos"/>
              </a:rPr>
              <a:t>d</a:t>
            </a:r>
            <a:r>
              <a:rPr lang="hu-HU" sz="3600" dirty="0">
                <a:latin typeface="Aptos"/>
              </a:rPr>
              <a:t> </a:t>
            </a:r>
            <a:r>
              <a:rPr lang="hu-HU" sz="3600" dirty="0" err="1">
                <a:latin typeface="Aptos"/>
              </a:rPr>
              <a:t>support</a:t>
            </a:r>
            <a:endParaRPr lang="en" sz="3600" dirty="0">
              <a:latin typeface="Aptos"/>
            </a:endParaRPr>
          </a:p>
          <a:p>
            <a:pPr algn="ctr"/>
            <a:r>
              <a:rPr lang="hu-HU" sz="3600" dirty="0" err="1">
                <a:latin typeface="Aptos"/>
              </a:rPr>
              <a:t>Expand</a:t>
            </a:r>
            <a:r>
              <a:rPr lang="hu-HU" sz="3600" dirty="0">
                <a:latin typeface="Aptos"/>
              </a:rPr>
              <a:t> </a:t>
            </a:r>
            <a:r>
              <a:rPr lang="hu-HU" sz="3600" dirty="0" err="1">
                <a:latin typeface="Aptos"/>
              </a:rPr>
              <a:t>To</a:t>
            </a:r>
            <a:r>
              <a:rPr lang="hu-HU" sz="3600" dirty="0">
                <a:latin typeface="Aptos"/>
              </a:rPr>
              <a:t> </a:t>
            </a:r>
            <a:r>
              <a:rPr lang="hu-HU" sz="3600" dirty="0" err="1">
                <a:latin typeface="Aptos"/>
              </a:rPr>
              <a:t>Foreign</a:t>
            </a:r>
            <a:r>
              <a:rPr lang="hu-HU" sz="3600" dirty="0">
                <a:latin typeface="Aptos"/>
              </a:rPr>
              <a:t> </a:t>
            </a:r>
            <a:r>
              <a:rPr lang="hu-HU" sz="3600" dirty="0" err="1">
                <a:latin typeface="Aptos"/>
              </a:rPr>
              <a:t>Countries</a:t>
            </a:r>
            <a:endParaRPr lang="en" sz="3600" dirty="0">
              <a:latin typeface="Aptos"/>
            </a:endParaRPr>
          </a:p>
          <a:p>
            <a:pPr algn="ctr"/>
            <a:r>
              <a:rPr lang="hu-HU" sz="3600" dirty="0" err="1">
                <a:latin typeface="Aptos"/>
              </a:rPr>
              <a:t>Customer</a:t>
            </a:r>
            <a:r>
              <a:rPr lang="hu-HU" sz="3600" dirty="0">
                <a:latin typeface="Aptos"/>
              </a:rPr>
              <a:t> Service</a:t>
            </a:r>
          </a:p>
          <a:p>
            <a:pPr algn="ctr"/>
            <a:r>
              <a:rPr lang="hu-HU" sz="3600" dirty="0">
                <a:latin typeface="Aptos"/>
              </a:rPr>
              <a:t>Mobile App</a:t>
            </a:r>
          </a:p>
          <a:p>
            <a:pPr algn="ctr"/>
            <a:endParaRPr lang="hu-HU" sz="3600" dirty="0">
              <a:latin typeface="Aptos"/>
            </a:endParaRPr>
          </a:p>
          <a:p>
            <a:pPr algn="ctr"/>
            <a:endParaRPr lang="en" sz="3600" dirty="0">
              <a:latin typeface="Aptos"/>
            </a:endParaRPr>
          </a:p>
        </p:txBody>
      </p:sp>
    </p:spTree>
    <p:extLst>
      <p:ext uri="{BB962C8B-B14F-4D97-AF65-F5344CB8AC3E}">
        <p14:creationId xmlns:p14="http://schemas.microsoft.com/office/powerpoint/2010/main" val="2408961800"/>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26" name="Rectangle 12">
            <a:extLst>
              <a:ext uri="{FF2B5EF4-FFF2-40B4-BE49-F238E27FC236}">
                <a16:creationId xmlns:a16="http://schemas.microsoft.com/office/drawing/2014/main" id="{FEF085B8-A2C0-4A6F-B663-CCC56F3CD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13">
            <a:extLst>
              <a:ext uri="{FF2B5EF4-FFF2-40B4-BE49-F238E27FC236}">
                <a16:creationId xmlns:a16="http://schemas.microsoft.com/office/drawing/2014/main" id="{2658F6D6-96E0-421A-96D6-3DF4040085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11">
            <a:extLst>
              <a:ext uri="{FF2B5EF4-FFF2-40B4-BE49-F238E27FC236}">
                <a16:creationId xmlns:a16="http://schemas.microsoft.com/office/drawing/2014/main" id="{3CF62545-93A0-4FD5-9B48-48DCA794C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Cím 1">
            <a:extLst>
              <a:ext uri="{FF2B5EF4-FFF2-40B4-BE49-F238E27FC236}">
                <a16:creationId xmlns:a16="http://schemas.microsoft.com/office/drawing/2014/main" id="{9B2744A1-F57C-7D07-13DC-0ABFAE85DE57}"/>
              </a:ext>
            </a:extLst>
          </p:cNvPr>
          <p:cNvSpPr>
            <a:spLocks noGrp="1"/>
          </p:cNvSpPr>
          <p:nvPr>
            <p:ph type="title"/>
          </p:nvPr>
        </p:nvSpPr>
        <p:spPr>
          <a:xfrm>
            <a:off x="838200" y="365125"/>
            <a:ext cx="10515600" cy="1325563"/>
          </a:xfrm>
        </p:spPr>
        <p:txBody>
          <a:bodyPr vert="horz" lIns="91440" tIns="45720" rIns="91440" bIns="45720" rtlCol="0" anchor="ctr">
            <a:normAutofit/>
          </a:bodyPr>
          <a:lstStyle/>
          <a:p>
            <a:pPr algn="ctr"/>
            <a:r>
              <a:rPr lang="en-US" b="1" kern="1200" dirty="0">
                <a:solidFill>
                  <a:schemeClr val="tx1"/>
                </a:solidFill>
                <a:latin typeface="+mj-lt"/>
                <a:ea typeface="+mj-ea"/>
                <a:cs typeface="+mj-cs"/>
              </a:rPr>
              <a:t>Summary</a:t>
            </a:r>
          </a:p>
        </p:txBody>
      </p:sp>
      <p:sp>
        <p:nvSpPr>
          <p:cNvPr id="3" name="Tartalom helye 2">
            <a:extLst>
              <a:ext uri="{FF2B5EF4-FFF2-40B4-BE49-F238E27FC236}">
                <a16:creationId xmlns:a16="http://schemas.microsoft.com/office/drawing/2014/main" id="{C37F9B14-9B4B-4B4C-5548-8694F881E88E}"/>
              </a:ext>
            </a:extLst>
          </p:cNvPr>
          <p:cNvSpPr>
            <a:spLocks noGrp="1"/>
          </p:cNvSpPr>
          <p:nvPr>
            <p:ph idx="1"/>
          </p:nvPr>
        </p:nvSpPr>
        <p:spPr>
          <a:xfrm>
            <a:off x="838200" y="2010833"/>
            <a:ext cx="5096934" cy="4166130"/>
          </a:xfrm>
        </p:spPr>
        <p:txBody>
          <a:bodyPr vert="horz" lIns="91440" tIns="45720" rIns="91440" bIns="45720" rtlCol="0" anchor="t">
            <a:normAutofit/>
          </a:bodyPr>
          <a:lstStyle/>
          <a:p>
            <a:r>
              <a:rPr lang="en-US" sz="2000" b="1" dirty="0"/>
              <a:t>Online Appointment Booking</a:t>
            </a:r>
            <a:r>
              <a:rPr lang="en-US" sz="2000" dirty="0"/>
              <a:t> – simple, fast, and accessible 24/7. </a:t>
            </a:r>
          </a:p>
          <a:p>
            <a:r>
              <a:rPr lang="en-US" sz="2000" b="1" dirty="0"/>
              <a:t>User Profile Management</a:t>
            </a:r>
            <a:r>
              <a:rPr lang="en-US" sz="2000" dirty="0"/>
              <a:t> – for both clients and service providers.</a:t>
            </a:r>
          </a:p>
          <a:p>
            <a:r>
              <a:rPr lang="en-US" sz="2000" b="1" dirty="0"/>
              <a:t>Booking Rules</a:t>
            </a:r>
            <a:r>
              <a:rPr lang="en-US" sz="2000" dirty="0"/>
              <a:t> – set availability and maximum bookings.</a:t>
            </a:r>
          </a:p>
          <a:p>
            <a:endParaRPr lang="en-US" sz="2000" dirty="0"/>
          </a:p>
          <a:p>
            <a:endParaRPr lang="en-US" sz="2000" dirty="0"/>
          </a:p>
        </p:txBody>
      </p:sp>
      <p:sp>
        <p:nvSpPr>
          <p:cNvPr id="8" name="Szövegdoboz 7">
            <a:extLst>
              <a:ext uri="{FF2B5EF4-FFF2-40B4-BE49-F238E27FC236}">
                <a16:creationId xmlns:a16="http://schemas.microsoft.com/office/drawing/2014/main" id="{98D2FAB0-E82B-E37A-2AC3-6CBF8DE72AEB}"/>
              </a:ext>
            </a:extLst>
          </p:cNvPr>
          <p:cNvSpPr txBox="1"/>
          <p:nvPr/>
        </p:nvSpPr>
        <p:spPr>
          <a:xfrm>
            <a:off x="6256866" y="2010833"/>
            <a:ext cx="5096933" cy="41661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000" b="1" dirty="0"/>
              <a:t>Automated Notifications</a:t>
            </a:r>
            <a:r>
              <a:rPr lang="en-US" sz="2000" dirty="0"/>
              <a:t> – confirmations, reminders, and cancellation alerts via email.</a:t>
            </a:r>
          </a:p>
          <a:p>
            <a:pPr marL="285750" indent="-228600">
              <a:lnSpc>
                <a:spcPct val="90000"/>
              </a:lnSpc>
              <a:spcAft>
                <a:spcPts val="600"/>
              </a:spcAft>
              <a:buFont typeface="Arial" panose="020B0604020202020204" pitchFamily="34" charset="0"/>
              <a:buChar char="•"/>
            </a:pPr>
            <a:r>
              <a:rPr lang="en-US" sz="2000" b="1" dirty="0"/>
              <a:t>Online Payments</a:t>
            </a:r>
            <a:r>
              <a:rPr lang="en-US" sz="2000" dirty="0"/>
              <a:t> – support for credit card</a:t>
            </a:r>
            <a:r>
              <a:rPr lang="hu-HU" sz="2000" dirty="0"/>
              <a:t> </a:t>
            </a:r>
            <a:r>
              <a:rPr lang="en-US" sz="2000" dirty="0"/>
              <a:t>payment options .    </a:t>
            </a:r>
          </a:p>
          <a:p>
            <a:pPr marL="285750" indent="-228600">
              <a:lnSpc>
                <a:spcPct val="90000"/>
              </a:lnSpc>
              <a:spcAft>
                <a:spcPts val="600"/>
              </a:spcAft>
              <a:buFont typeface="Arial" panose="020B0604020202020204" pitchFamily="34" charset="0"/>
              <a:buChar char="•"/>
            </a:pPr>
            <a:r>
              <a:rPr lang="en-US" sz="2000" b="1" dirty="0"/>
              <a:t>Multi-Language &amp; Time Zone Support</a:t>
            </a:r>
            <a:r>
              <a:rPr lang="en-US" sz="2000" dirty="0"/>
              <a:t> – for global accessibility.</a:t>
            </a:r>
          </a:p>
        </p:txBody>
      </p:sp>
      <p:pic>
        <p:nvPicPr>
          <p:cNvPr id="22" name="Ábra 11" descr="❌">
            <a:extLst>
              <a:ext uri="{FF2B5EF4-FFF2-40B4-BE49-F238E27FC236}">
                <a16:creationId xmlns:a16="http://schemas.microsoft.com/office/drawing/2014/main" id="{4D3889CB-5368-B393-2275-4838CDB45D2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86532" y="2200277"/>
            <a:ext cx="316467" cy="337886"/>
          </a:xfrm>
          <a:prstGeom prst="rect">
            <a:avLst/>
          </a:prstGeom>
        </p:spPr>
      </p:pic>
      <p:pic>
        <p:nvPicPr>
          <p:cNvPr id="25" name="Ábra 11" descr="❌">
            <a:extLst>
              <a:ext uri="{FF2B5EF4-FFF2-40B4-BE49-F238E27FC236}">
                <a16:creationId xmlns:a16="http://schemas.microsoft.com/office/drawing/2014/main" id="{2927ADF2-0627-8041-98CC-EC4D7AE20B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86532" y="2972716"/>
            <a:ext cx="316467" cy="337886"/>
          </a:xfrm>
          <a:prstGeom prst="rect">
            <a:avLst/>
          </a:prstGeom>
        </p:spPr>
      </p:pic>
      <p:pic>
        <p:nvPicPr>
          <p:cNvPr id="29" name="Ábra 11" descr="❌">
            <a:extLst>
              <a:ext uri="{FF2B5EF4-FFF2-40B4-BE49-F238E27FC236}">
                <a16:creationId xmlns:a16="http://schemas.microsoft.com/office/drawing/2014/main" id="{41EC0FEF-7C19-B28A-4FA1-8AE819AD426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86532" y="3672085"/>
            <a:ext cx="316467" cy="337886"/>
          </a:xfrm>
          <a:prstGeom prst="rect">
            <a:avLst/>
          </a:prstGeom>
        </p:spPr>
      </p:pic>
      <p:pic>
        <p:nvPicPr>
          <p:cNvPr id="30" name="Ábra 4" descr="✅">
            <a:extLst>
              <a:ext uri="{FF2B5EF4-FFF2-40B4-BE49-F238E27FC236}">
                <a16:creationId xmlns:a16="http://schemas.microsoft.com/office/drawing/2014/main" id="{8CDA2996-BABF-F2E1-6672-6131B15319E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26904" y="2127668"/>
            <a:ext cx="332127" cy="332127"/>
          </a:xfrm>
          <a:prstGeom prst="rect">
            <a:avLst/>
          </a:prstGeom>
        </p:spPr>
      </p:pic>
      <p:pic>
        <p:nvPicPr>
          <p:cNvPr id="32" name="Ábra 4" descr="✅">
            <a:extLst>
              <a:ext uri="{FF2B5EF4-FFF2-40B4-BE49-F238E27FC236}">
                <a16:creationId xmlns:a16="http://schemas.microsoft.com/office/drawing/2014/main" id="{B0CB77B7-2BA4-F397-77B3-84B7BBEAD6E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26903" y="2806160"/>
            <a:ext cx="332127" cy="332127"/>
          </a:xfrm>
          <a:prstGeom prst="rect">
            <a:avLst/>
          </a:prstGeom>
        </p:spPr>
      </p:pic>
      <p:pic>
        <p:nvPicPr>
          <p:cNvPr id="33" name="Ábra 4" descr="✅">
            <a:extLst>
              <a:ext uri="{FF2B5EF4-FFF2-40B4-BE49-F238E27FC236}">
                <a16:creationId xmlns:a16="http://schemas.microsoft.com/office/drawing/2014/main" id="{733B3270-E7AC-11D4-A47C-A15091E34C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26903" y="3505530"/>
            <a:ext cx="332127" cy="332127"/>
          </a:xfrm>
          <a:prstGeom prst="rect">
            <a:avLst/>
          </a:prstGeom>
        </p:spPr>
      </p:pic>
    </p:spTree>
    <p:extLst>
      <p:ext uri="{BB962C8B-B14F-4D97-AF65-F5344CB8AC3E}">
        <p14:creationId xmlns:p14="http://schemas.microsoft.com/office/powerpoint/2010/main" val="3868650499"/>
      </p:ext>
    </p:extLst>
  </p:cSld>
  <p:clrMapOvr>
    <a:overrideClrMapping bg1="dk1" tx1="lt1" bg2="dk2" tx2="lt2" accent1="accent1" accent2="accent2" accent3="accent3" accent4="accent4" accent5="accent5" accent6="accent6" hlink="hlink" folHlink="folHlink"/>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Cím 3">
            <a:extLst>
              <a:ext uri="{FF2B5EF4-FFF2-40B4-BE49-F238E27FC236}">
                <a16:creationId xmlns:a16="http://schemas.microsoft.com/office/drawing/2014/main" id="{1F5F7732-4FCF-D5EA-4ABA-C8ED10F14A16}"/>
              </a:ext>
            </a:extLst>
          </p:cNvPr>
          <p:cNvSpPr>
            <a:spLocks noGrp="1"/>
          </p:cNvSpPr>
          <p:nvPr>
            <p:ph type="title"/>
          </p:nvPr>
        </p:nvSpPr>
        <p:spPr>
          <a:xfrm>
            <a:off x="2555631" y="1441938"/>
            <a:ext cx="7080738" cy="3974124"/>
          </a:xfrm>
        </p:spPr>
        <p:txBody>
          <a:bodyPr>
            <a:normAutofit/>
          </a:bodyPr>
          <a:lstStyle/>
          <a:p>
            <a:pPr algn="ctr"/>
            <a:r>
              <a:rPr lang="hu-HU" sz="8800" b="1" dirty="0" err="1">
                <a:solidFill>
                  <a:schemeClr val="bg1">
                    <a:lumMod val="95000"/>
                    <a:lumOff val="5000"/>
                  </a:schemeClr>
                </a:solidFill>
              </a:rPr>
              <a:t>Thank</a:t>
            </a:r>
            <a:r>
              <a:rPr lang="hu-HU" sz="8800" b="1" dirty="0">
                <a:solidFill>
                  <a:schemeClr val="bg1">
                    <a:lumMod val="95000"/>
                    <a:lumOff val="5000"/>
                  </a:schemeClr>
                </a:solidFill>
              </a:rPr>
              <a:t> </a:t>
            </a:r>
            <a:r>
              <a:rPr lang="hu-HU" sz="8800" b="1">
                <a:solidFill>
                  <a:schemeClr val="bg1">
                    <a:lumMod val="95000"/>
                    <a:lumOff val="5000"/>
                  </a:schemeClr>
                </a:solidFill>
              </a:rPr>
              <a:t>You</a:t>
            </a:r>
            <a:r>
              <a:rPr lang="hu-HU" sz="8800" b="1" dirty="0">
                <a:solidFill>
                  <a:schemeClr val="bg1">
                    <a:lumMod val="95000"/>
                    <a:lumOff val="5000"/>
                  </a:schemeClr>
                </a:solidFill>
              </a:rPr>
              <a:t>!</a:t>
            </a:r>
            <a:br>
              <a:rPr lang="hu-HU" sz="8800" b="1" dirty="0">
                <a:solidFill>
                  <a:schemeClr val="bg1">
                    <a:lumMod val="95000"/>
                    <a:lumOff val="5000"/>
                  </a:schemeClr>
                </a:solidFill>
              </a:rPr>
            </a:br>
            <a:r>
              <a:rPr lang="hu-HU" sz="3200" b="1" dirty="0" err="1">
                <a:solidFill>
                  <a:schemeClr val="bg1">
                    <a:lumMod val="95000"/>
                    <a:lumOff val="5000"/>
                  </a:schemeClr>
                </a:solidFill>
              </a:rPr>
              <a:t>For</a:t>
            </a:r>
            <a:r>
              <a:rPr lang="hu-HU" sz="3200" b="1" dirty="0">
                <a:solidFill>
                  <a:schemeClr val="bg1">
                    <a:lumMod val="95000"/>
                    <a:lumOff val="5000"/>
                  </a:schemeClr>
                </a:solidFill>
              </a:rPr>
              <a:t> </a:t>
            </a:r>
            <a:r>
              <a:rPr lang="hu-HU" sz="3200" b="1" dirty="0" err="1">
                <a:solidFill>
                  <a:schemeClr val="bg1">
                    <a:lumMod val="95000"/>
                    <a:lumOff val="5000"/>
                  </a:schemeClr>
                </a:solidFill>
              </a:rPr>
              <a:t>Your</a:t>
            </a:r>
            <a:r>
              <a:rPr lang="hu-HU" sz="3200" b="1" dirty="0">
                <a:solidFill>
                  <a:schemeClr val="bg1">
                    <a:lumMod val="95000"/>
                    <a:lumOff val="5000"/>
                  </a:schemeClr>
                </a:solidFill>
              </a:rPr>
              <a:t> </a:t>
            </a:r>
            <a:r>
              <a:rPr lang="hu-HU" sz="3200" b="1" dirty="0" err="1">
                <a:solidFill>
                  <a:schemeClr val="bg1">
                    <a:lumMod val="95000"/>
                    <a:lumOff val="5000"/>
                  </a:schemeClr>
                </a:solidFill>
              </a:rPr>
              <a:t>Attention</a:t>
            </a:r>
            <a:endParaRPr lang="hu-HU" sz="3200" b="1" dirty="0">
              <a:solidFill>
                <a:schemeClr val="bg1">
                  <a:lumMod val="95000"/>
                  <a:lumOff val="5000"/>
                </a:schemeClr>
              </a:solidFill>
            </a:endParaRPr>
          </a:p>
        </p:txBody>
      </p:sp>
    </p:spTree>
    <p:extLst>
      <p:ext uri="{BB962C8B-B14F-4D97-AF65-F5344CB8AC3E}">
        <p14:creationId xmlns:p14="http://schemas.microsoft.com/office/powerpoint/2010/main" val="4043254765"/>
      </p:ext>
    </p:extLst>
  </p:cSld>
  <p:clrMapOvr>
    <a:overrideClrMapping bg1="dk1" tx1="lt1" bg2="dk2" tx2="lt2" accent1="accent1" accent2="accent2" accent3="accent3" accent4="accent4" accent5="accent5" accent6="accent6" hlink="hlink" folHlink="folHlink"/>
  </p:clrMapOvr>
  <p:transition spd="slow">
    <p:push dir="u"/>
  </p:transition>
</p:sld>
</file>

<file path=ppt/theme/theme1.xml><?xml version="1.0" encoding="utf-8"?>
<a:theme xmlns:a="http://schemas.openxmlformats.org/drawingml/2006/main" name="Office-té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585</TotalTime>
  <Words>778</Words>
  <Application>Microsoft Office PowerPoint</Application>
  <PresentationFormat>Szélesvásznú</PresentationFormat>
  <Paragraphs>73</Paragraphs>
  <Slides>14</Slides>
  <Notes>9</Notes>
  <HiddenSlides>0</HiddenSlides>
  <MMClips>0</MMClips>
  <ScaleCrop>false</ScaleCrop>
  <HeadingPairs>
    <vt:vector size="6" baseType="variant">
      <vt:variant>
        <vt:lpstr>Használt betűtípusok</vt:lpstr>
      </vt:variant>
      <vt:variant>
        <vt:i4>5</vt:i4>
      </vt:variant>
      <vt:variant>
        <vt:lpstr>Téma</vt:lpstr>
      </vt:variant>
      <vt:variant>
        <vt:i4>1</vt:i4>
      </vt:variant>
      <vt:variant>
        <vt:lpstr>Diacímek</vt:lpstr>
      </vt:variant>
      <vt:variant>
        <vt:i4>14</vt:i4>
      </vt:variant>
    </vt:vector>
  </HeadingPairs>
  <TitlesOfParts>
    <vt:vector size="20" baseType="lpstr">
      <vt:lpstr>Aptos</vt:lpstr>
      <vt:lpstr>Aptos Display</vt:lpstr>
      <vt:lpstr>Arial</vt:lpstr>
      <vt:lpstr>Calibri</vt:lpstr>
      <vt:lpstr>gg sans</vt:lpstr>
      <vt:lpstr>Office-téma</vt:lpstr>
      <vt:lpstr>Bookify </vt:lpstr>
      <vt:lpstr>Why did we build this?</vt:lpstr>
      <vt:lpstr>Key Features</vt:lpstr>
      <vt:lpstr>Design &amp; Mockups</vt:lpstr>
      <vt:lpstr>Finished Webpage</vt:lpstr>
      <vt:lpstr>Database Plan</vt:lpstr>
      <vt:lpstr>Technology Stack</vt:lpstr>
      <vt:lpstr>Tamás Git Workflow</vt:lpstr>
      <vt:lpstr>Kristóf Git Workflow</vt:lpstr>
      <vt:lpstr>Ricsi Git Workflow</vt:lpstr>
      <vt:lpstr>Jira work share</vt:lpstr>
      <vt:lpstr>Potential Future Improvements</vt:lpstr>
      <vt:lpstr>Summary</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Tamás Erdei</dc:creator>
  <cp:lastModifiedBy>Tamás Erdei</cp:lastModifiedBy>
  <cp:revision>348</cp:revision>
  <dcterms:created xsi:type="dcterms:W3CDTF">2025-02-22T15:58:24Z</dcterms:created>
  <dcterms:modified xsi:type="dcterms:W3CDTF">2025-04-29T20:37:35Z</dcterms:modified>
</cp:coreProperties>
</file>